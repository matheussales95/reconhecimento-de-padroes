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2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y="5143500" cx="9144000"/>
  <p:notesSz cx="6858000" cy="9144000"/>
  <p:embeddedFontLst>
    <p:embeddedFont>
      <p:font typeface="Raleway"/>
      <p:regular r:id="rId24"/>
      <p:bold r:id="rId25"/>
      <p:italic r:id="rId26"/>
      <p:boldItalic r:id="rId27"/>
    </p:embeddedFont>
    <p:embeddedFont>
      <p:font typeface="Raleway Medium"/>
      <p:regular r:id="rId28"/>
      <p:bold r:id="rId29"/>
      <p:italic r:id="rId30"/>
      <p:boldItalic r:id="rId31"/>
    </p:embeddedFont>
    <p:embeddedFont>
      <p:font typeface="Oswald"/>
      <p:regular r:id="rId32"/>
      <p:bold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font" Target="fonts/Raleway-regular.fntdata"/><Relationship Id="rId25" Type="http://schemas.openxmlformats.org/officeDocument/2006/relationships/font" Target="fonts/Raleway-bold.fntdata"/><Relationship Id="rId26" Type="http://schemas.openxmlformats.org/officeDocument/2006/relationships/font" Target="fonts/Raleway-italic.fntdata"/><Relationship Id="rId27" Type="http://schemas.openxmlformats.org/officeDocument/2006/relationships/font" Target="fonts/Raleway-boldItalic.fntdata"/><Relationship Id="rId28" Type="http://schemas.openxmlformats.org/officeDocument/2006/relationships/font" Target="fonts/RalewayMedium-regular.fntdata"/><Relationship Id="rId29" Type="http://schemas.openxmlformats.org/officeDocument/2006/relationships/font" Target="fonts/RalewayMedium-bold.fntdata"/><Relationship Id="rId30" Type="http://schemas.openxmlformats.org/officeDocument/2006/relationships/font" Target="fonts/RalewayMedium-italic.fntdata"/><Relationship Id="rId31" Type="http://schemas.openxmlformats.org/officeDocument/2006/relationships/font" Target="fonts/RalewayMedium-boldItalic.fntdata"/><Relationship Id="rId32" Type="http://schemas.openxmlformats.org/officeDocument/2006/relationships/font" Target="fonts/Oswald-regular.fntdata"/><Relationship Id="rId33" Type="http://schemas.openxmlformats.org/officeDocument/2006/relationships/font" Target="fonts/Oswald-bold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" name="Google Shape;30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g2d697e4dc82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" name="Google Shape;36;g2d697e4dc82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g2d697e4dc82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" name="Google Shape;41;g2d697e4dc82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3e46d5bec34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" name="Google Shape;48;g3e46d5bec34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e46d5bec34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" name="Google Shape;54;g3e46d5bec34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e46d5bec34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e46d5bec34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e46d5bec34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e46d5bec34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e46d5bec34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e46d5bec34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e46d5bec34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e46d5bec34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e46d5bec34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e46d5bec34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e46d5bec34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e46d5bec34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e46d5bec34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e46d5bec34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e46d5bec34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e46d5bec34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e46d5bec34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e46d5bec34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e46d5bec34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e46d5bec34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e46d5bec34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e46d5bec34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e46d5bec34_0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e46d5bec34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e46d5bec34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e46d5bec34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Relationship Id="rId3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311700" y="3334889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Raleway"/>
              <a:buNone/>
              <a:defRPr sz="24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Raleway"/>
              <a:buNone/>
              <a:defRPr sz="24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Raleway"/>
              <a:buNone/>
              <a:defRPr sz="24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Raleway"/>
              <a:buNone/>
              <a:defRPr sz="24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Raleway"/>
              <a:buNone/>
              <a:defRPr sz="24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Raleway"/>
              <a:buNone/>
              <a:defRPr sz="24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Raleway"/>
              <a:buNone/>
              <a:defRPr sz="24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Raleway"/>
              <a:buNone/>
              <a:defRPr sz="24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Raleway"/>
              <a:buNone/>
              <a:defRPr sz="24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1" name="Google Shape;11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0" y="2529150"/>
            <a:ext cx="9144000" cy="85200"/>
          </a:xfrm>
          <a:prstGeom prst="rect">
            <a:avLst/>
          </a:prstGeom>
          <a:solidFill>
            <a:srgbClr val="A4C2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355476" y="746487"/>
            <a:ext cx="4619126" cy="54580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2"/>
          <p:cNvSpPr txBox="1"/>
          <p:nvPr>
            <p:ph type="ctrTitle"/>
          </p:nvPr>
        </p:nvSpPr>
        <p:spPr>
          <a:xfrm>
            <a:off x="1553500" y="1842150"/>
            <a:ext cx="6036900" cy="1459200"/>
          </a:xfrm>
          <a:prstGeom prst="rect">
            <a:avLst/>
          </a:prstGeom>
          <a:solidFill>
            <a:schemeClr val="lt1"/>
          </a:solidFill>
        </p:spPr>
        <p:txBody>
          <a:bodyPr anchorCtr="0" anchor="ctr" bIns="91425" lIns="182875" spcFirstLastPara="1" rIns="18287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4D62B0"/>
              </a:buClr>
              <a:buSzPts val="4200"/>
              <a:buNone/>
              <a:defRPr sz="4200">
                <a:solidFill>
                  <a:srgbClr val="4D62B0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4D62B0"/>
              </a:buClr>
              <a:buSzPts val="4200"/>
              <a:buNone/>
              <a:defRPr sz="4200">
                <a:solidFill>
                  <a:srgbClr val="4D62B0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4D62B0"/>
              </a:buClr>
              <a:buSzPts val="4200"/>
              <a:buNone/>
              <a:defRPr sz="4200">
                <a:solidFill>
                  <a:srgbClr val="4D62B0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4D62B0"/>
              </a:buClr>
              <a:buSzPts val="4200"/>
              <a:buNone/>
              <a:defRPr sz="4200">
                <a:solidFill>
                  <a:srgbClr val="4D62B0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4D62B0"/>
              </a:buClr>
              <a:buSzPts val="4200"/>
              <a:buNone/>
              <a:defRPr sz="4200">
                <a:solidFill>
                  <a:srgbClr val="4D62B0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4D62B0"/>
              </a:buClr>
              <a:buSzPts val="4200"/>
              <a:buNone/>
              <a:defRPr sz="4200">
                <a:solidFill>
                  <a:srgbClr val="4D62B0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4D62B0"/>
              </a:buClr>
              <a:buSzPts val="4200"/>
              <a:buNone/>
              <a:defRPr sz="4200">
                <a:solidFill>
                  <a:srgbClr val="4D62B0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4D62B0"/>
              </a:buClr>
              <a:buSzPts val="4200"/>
              <a:buNone/>
              <a:defRPr sz="4200">
                <a:solidFill>
                  <a:srgbClr val="4D62B0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4D62B0"/>
              </a:buClr>
              <a:buSzPts val="4200"/>
              <a:buNone/>
              <a:defRPr sz="4200">
                <a:solidFill>
                  <a:srgbClr val="4D62B0"/>
                </a:solidFill>
              </a:defRPr>
            </a:lvl9pPr>
          </a:lstStyle>
          <a:p/>
        </p:txBody>
      </p:sp>
      <p:pic>
        <p:nvPicPr>
          <p:cNvPr id="15" name="Google Shape;15;p2" title="sisam-horztl_51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62736" y="733150"/>
            <a:ext cx="1954200" cy="545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0" y="2529150"/>
            <a:ext cx="9144000" cy="85200"/>
          </a:xfrm>
          <a:prstGeom prst="rect">
            <a:avLst/>
          </a:prstGeom>
          <a:solidFill>
            <a:srgbClr val="A4C2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3"/>
          <p:cNvSpPr txBox="1"/>
          <p:nvPr>
            <p:ph type="ctrTitle"/>
          </p:nvPr>
        </p:nvSpPr>
        <p:spPr>
          <a:xfrm>
            <a:off x="2258450" y="1842150"/>
            <a:ext cx="4626900" cy="1459200"/>
          </a:xfrm>
          <a:prstGeom prst="rect">
            <a:avLst/>
          </a:prstGeom>
          <a:solidFill>
            <a:schemeClr val="lt1"/>
          </a:solidFill>
        </p:spPr>
        <p:txBody>
          <a:bodyPr anchorCtr="0" anchor="ctr" bIns="91425" lIns="182875" spcFirstLastPara="1" rIns="18287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4D62B0"/>
              </a:buClr>
              <a:buSzPts val="3000"/>
              <a:buNone/>
              <a:defRPr sz="3000">
                <a:solidFill>
                  <a:srgbClr val="4D62B0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4D62B0"/>
              </a:buClr>
              <a:buSzPts val="3000"/>
              <a:buNone/>
              <a:defRPr sz="3000">
                <a:solidFill>
                  <a:srgbClr val="4D62B0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4D62B0"/>
              </a:buClr>
              <a:buSzPts val="3000"/>
              <a:buNone/>
              <a:defRPr sz="3000">
                <a:solidFill>
                  <a:srgbClr val="4D62B0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4D62B0"/>
              </a:buClr>
              <a:buSzPts val="3000"/>
              <a:buNone/>
              <a:defRPr sz="3000">
                <a:solidFill>
                  <a:srgbClr val="4D62B0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4D62B0"/>
              </a:buClr>
              <a:buSzPts val="3000"/>
              <a:buNone/>
              <a:defRPr sz="3000">
                <a:solidFill>
                  <a:srgbClr val="4D62B0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4D62B0"/>
              </a:buClr>
              <a:buSzPts val="3000"/>
              <a:buNone/>
              <a:defRPr sz="3000">
                <a:solidFill>
                  <a:srgbClr val="4D62B0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4D62B0"/>
              </a:buClr>
              <a:buSzPts val="3000"/>
              <a:buNone/>
              <a:defRPr sz="3000">
                <a:solidFill>
                  <a:srgbClr val="4D62B0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4D62B0"/>
              </a:buClr>
              <a:buSzPts val="3000"/>
              <a:buNone/>
              <a:defRPr sz="3000">
                <a:solidFill>
                  <a:srgbClr val="4D62B0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4D62B0"/>
              </a:buClr>
              <a:buSzPts val="3000"/>
              <a:buNone/>
              <a:defRPr sz="3000">
                <a:solidFill>
                  <a:srgbClr val="4D62B0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/>
          <p:nvPr>
            <p:ph idx="1" type="body"/>
          </p:nvPr>
        </p:nvSpPr>
        <p:spPr>
          <a:xfrm>
            <a:off x="311700" y="691900"/>
            <a:ext cx="8585400" cy="3876900"/>
          </a:xfrm>
          <a:prstGeom prst="rect">
            <a:avLst/>
          </a:prstGeom>
        </p:spPr>
        <p:txBody>
          <a:bodyPr anchorCtr="0" anchor="t" bIns="0" lIns="13715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●"/>
              <a:defRPr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Char char="○"/>
              <a:defRPr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Char char="■"/>
              <a:defRPr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Char char="●"/>
              <a:defRPr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Char char="○"/>
              <a:defRPr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Char char="■"/>
              <a:defRPr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Char char="●"/>
              <a:defRPr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Char char="○"/>
              <a:defRPr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Char char="■"/>
              <a:defRPr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2" name="Google Shape;22;p4"/>
          <p:cNvSpPr/>
          <p:nvPr/>
        </p:nvSpPr>
        <p:spPr>
          <a:xfrm>
            <a:off x="0" y="211325"/>
            <a:ext cx="7551000" cy="85200"/>
          </a:xfrm>
          <a:prstGeom prst="rect">
            <a:avLst/>
          </a:prstGeom>
          <a:solidFill>
            <a:srgbClr val="A4C2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4"/>
          <p:cNvSpPr/>
          <p:nvPr/>
        </p:nvSpPr>
        <p:spPr>
          <a:xfrm>
            <a:off x="8897100" y="211325"/>
            <a:ext cx="246900" cy="85200"/>
          </a:xfrm>
          <a:prstGeom prst="rect">
            <a:avLst/>
          </a:prstGeom>
          <a:solidFill>
            <a:srgbClr val="A4C2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4"/>
          <p:cNvSpPr txBox="1"/>
          <p:nvPr>
            <p:ph type="title"/>
          </p:nvPr>
        </p:nvSpPr>
        <p:spPr>
          <a:xfrm>
            <a:off x="311700" y="64025"/>
            <a:ext cx="7064100" cy="393600"/>
          </a:xfrm>
          <a:prstGeom prst="rect">
            <a:avLst/>
          </a:prstGeom>
          <a:solidFill>
            <a:schemeClr val="lt1"/>
          </a:solidFill>
        </p:spPr>
        <p:txBody>
          <a:bodyPr anchorCtr="0" anchor="ctr" bIns="0" lIns="13715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4D62B0"/>
              </a:buClr>
              <a:buSzPts val="2400"/>
              <a:buNone/>
              <a:defRPr sz="2400">
                <a:solidFill>
                  <a:srgbClr val="4D62B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4D62B0"/>
              </a:buClr>
              <a:buSzPts val="2400"/>
              <a:buNone/>
              <a:defRPr sz="2400">
                <a:solidFill>
                  <a:srgbClr val="4D62B0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4D62B0"/>
              </a:buClr>
              <a:buSzPts val="2400"/>
              <a:buNone/>
              <a:defRPr sz="2400">
                <a:solidFill>
                  <a:srgbClr val="4D62B0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4D62B0"/>
              </a:buClr>
              <a:buSzPts val="2400"/>
              <a:buNone/>
              <a:defRPr sz="2400">
                <a:solidFill>
                  <a:srgbClr val="4D62B0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4D62B0"/>
              </a:buClr>
              <a:buSzPts val="2400"/>
              <a:buNone/>
              <a:defRPr sz="2400">
                <a:solidFill>
                  <a:srgbClr val="4D62B0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4D62B0"/>
              </a:buClr>
              <a:buSzPts val="2400"/>
              <a:buNone/>
              <a:defRPr sz="2400">
                <a:solidFill>
                  <a:srgbClr val="4D62B0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4D62B0"/>
              </a:buClr>
              <a:buSzPts val="2400"/>
              <a:buNone/>
              <a:defRPr sz="2400">
                <a:solidFill>
                  <a:srgbClr val="4D62B0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4D62B0"/>
              </a:buClr>
              <a:buSzPts val="2400"/>
              <a:buNone/>
              <a:defRPr sz="2400">
                <a:solidFill>
                  <a:srgbClr val="4D62B0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4D62B0"/>
              </a:buClr>
              <a:buSzPts val="2400"/>
              <a:buNone/>
              <a:defRPr sz="2400">
                <a:solidFill>
                  <a:srgbClr val="4D62B0"/>
                </a:solidFill>
              </a:defRPr>
            </a:lvl9pPr>
          </a:lstStyle>
          <a:p/>
        </p:txBody>
      </p:sp>
      <p:pic>
        <p:nvPicPr>
          <p:cNvPr id="25" name="Google Shape;25;p4" title="sisam-horztl_512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21537" y="37375"/>
            <a:ext cx="1212692" cy="3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swald"/>
              <a:buNone/>
              <a:defRPr sz="28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swald"/>
              <a:buNone/>
              <a:defRPr sz="28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swald"/>
              <a:buNone/>
              <a:defRPr sz="28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swald"/>
              <a:buNone/>
              <a:defRPr sz="28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swald"/>
              <a:buNone/>
              <a:defRPr sz="28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swald"/>
              <a:buNone/>
              <a:defRPr sz="28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swald"/>
              <a:buNone/>
              <a:defRPr sz="28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swald"/>
              <a:buNone/>
              <a:defRPr sz="28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swald"/>
              <a:buNone/>
              <a:defRPr sz="28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aleway Medium"/>
              <a:buChar char="●"/>
              <a:defRPr sz="1800">
                <a:solidFill>
                  <a:schemeClr val="dk2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 Medium"/>
              <a:buChar char="○"/>
              <a:defRPr>
                <a:solidFill>
                  <a:schemeClr val="dk2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 Medium"/>
              <a:buChar char="■"/>
              <a:defRPr>
                <a:solidFill>
                  <a:schemeClr val="dk2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 Medium"/>
              <a:buChar char="●"/>
              <a:defRPr>
                <a:solidFill>
                  <a:schemeClr val="dk2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 Medium"/>
              <a:buChar char="○"/>
              <a:defRPr>
                <a:solidFill>
                  <a:schemeClr val="dk2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 Medium"/>
              <a:buChar char="■"/>
              <a:defRPr>
                <a:solidFill>
                  <a:schemeClr val="dk2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 Medium"/>
              <a:buChar char="●"/>
              <a:defRPr>
                <a:solidFill>
                  <a:schemeClr val="dk2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 Medium"/>
              <a:buChar char="○"/>
              <a:defRPr>
                <a:solidFill>
                  <a:schemeClr val="dk2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 Medium"/>
              <a:buChar char="■"/>
              <a:defRPr>
                <a:solidFill>
                  <a:schemeClr val="dk2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png"/><Relationship Id="rId4" Type="http://schemas.openxmlformats.org/officeDocument/2006/relationships/image" Target="../media/image2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4.png"/><Relationship Id="rId4" Type="http://schemas.openxmlformats.org/officeDocument/2006/relationships/image" Target="../media/image2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Relationship Id="rId4" Type="http://schemas.openxmlformats.org/officeDocument/2006/relationships/image" Target="../media/image2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6.png"/><Relationship Id="rId4" Type="http://schemas.openxmlformats.org/officeDocument/2006/relationships/image" Target="../media/image2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Relationship Id="rId4" Type="http://schemas.openxmlformats.org/officeDocument/2006/relationships/image" Target="../media/image2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3.png"/><Relationship Id="rId4" Type="http://schemas.openxmlformats.org/officeDocument/2006/relationships/image" Target="../media/image2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Relationship Id="rId4" Type="http://schemas.openxmlformats.org/officeDocument/2006/relationships/image" Target="../media/image3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png"/><Relationship Id="rId4" Type="http://schemas.openxmlformats.org/officeDocument/2006/relationships/image" Target="../media/image3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png"/><Relationship Id="rId4" Type="http://schemas.openxmlformats.org/officeDocument/2006/relationships/image" Target="../media/image22.png"/><Relationship Id="rId5" Type="http://schemas.openxmlformats.org/officeDocument/2006/relationships/image" Target="../media/image32.png"/><Relationship Id="rId6" Type="http://schemas.openxmlformats.org/officeDocument/2006/relationships/image" Target="../media/image3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Relationship Id="rId4" Type="http://schemas.openxmlformats.org/officeDocument/2006/relationships/image" Target="../media/image3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png"/><Relationship Id="rId4" Type="http://schemas.openxmlformats.org/officeDocument/2006/relationships/image" Target="../media/image3.png"/><Relationship Id="rId5" Type="http://schemas.openxmlformats.org/officeDocument/2006/relationships/image" Target="../media/image3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8.png"/><Relationship Id="rId4" Type="http://schemas.openxmlformats.org/officeDocument/2006/relationships/image" Target="../media/image5.png"/><Relationship Id="rId5" Type="http://schemas.openxmlformats.org/officeDocument/2006/relationships/image" Target="../media/image3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png"/><Relationship Id="rId4" Type="http://schemas.openxmlformats.org/officeDocument/2006/relationships/image" Target="../media/image15.png"/><Relationship Id="rId5" Type="http://schemas.openxmlformats.org/officeDocument/2006/relationships/image" Target="../media/image3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.png"/><Relationship Id="rId4" Type="http://schemas.openxmlformats.org/officeDocument/2006/relationships/image" Target="../media/image20.png"/><Relationship Id="rId5" Type="http://schemas.openxmlformats.org/officeDocument/2006/relationships/image" Target="../media/image38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.png"/><Relationship Id="rId4" Type="http://schemas.openxmlformats.org/officeDocument/2006/relationships/image" Target="../media/image21.png"/><Relationship Id="rId5" Type="http://schemas.openxmlformats.org/officeDocument/2006/relationships/image" Target="../media/image19.png"/><Relationship Id="rId6" Type="http://schemas.openxmlformats.org/officeDocument/2006/relationships/image" Target="../media/image3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 txBox="1"/>
          <p:nvPr>
            <p:ph type="ctrTitle"/>
          </p:nvPr>
        </p:nvSpPr>
        <p:spPr>
          <a:xfrm>
            <a:off x="2152800" y="1842150"/>
            <a:ext cx="4838400" cy="1459200"/>
          </a:xfrm>
          <a:prstGeom prst="rect">
            <a:avLst/>
          </a:prstGeom>
        </p:spPr>
        <p:txBody>
          <a:bodyPr anchorCtr="0" anchor="ctr" bIns="91425" lIns="182875" spcFirstLastPara="1" rIns="18287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2600" b="1"/>
              <a:t>Random Forest para Detecção de Área Queimada</a:t>
            </a:r>
            <a:endParaRPr/>
          </a:p>
        </p:txBody>
      </p:sp>
      <p:sp>
        <p:nvSpPr>
          <p:cNvPr id="33" name="Google Shape;33;p6"/>
          <p:cNvSpPr txBox="1"/>
          <p:nvPr>
            <p:ph idx="1" type="subTitle"/>
          </p:nvPr>
        </p:nvSpPr>
        <p:spPr>
          <a:xfrm>
            <a:off x="311700" y="3604703"/>
            <a:ext cx="8520600" cy="142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600"/>
              <a:t>Classificação binária pixel a pixel: Queimado (1) / Não Queimado (0)</a:t>
            </a:r>
            <a:endParaRPr sz="1800"/>
          </a:p>
          <a:p>
            <a:pPr algn="ctr"/>
            <a:r>
              <a:rPr sz="1600"/>
              <a:t>Imagens Landsat 8 e 9 — Bandas B4, B5, B7 + índices NDVI e NBR</a:t>
            </a:r>
          </a:p>
          <a:p>
            <a:pPr algn="ctr"/>
            <a:r>
              <a:rPr sz="1600"/>
              <a:t>Reconhecimento de Padrões — UNESP ICT</a:t>
            </a:r>
          </a:p>
          <a:p>
            <a:pPr algn="ctr"/>
            <a:r>
              <a:rPr sz="1600"/>
              <a:t>Ryan Alves · Matheus Sales · Pedro · Abner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7"/>
          <p:cNvSpPr txBox="1"/>
          <p:nvPr>
            <p:ph type="ctrTitle"/>
          </p:nvPr>
        </p:nvSpPr>
        <p:spPr>
          <a:xfrm>
            <a:off x="3345200" y="1842150"/>
            <a:ext cx="2453700" cy="1459200"/>
          </a:xfrm>
          <a:prstGeom prst="rect">
            <a:avLst/>
          </a:prstGeom>
        </p:spPr>
        <p:txBody>
          <a:bodyPr anchorCtr="0" anchor="ctr" bIns="91425" lIns="182875" spcFirstLastPara="1" rIns="18287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3000" b="1">
                <a:solidFill>
                  <a:srgbClr val="000000"/>
                </a:solidFill>
              </a:rPr>
              <a:t>Fundamentos do Random Forest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>
            <p:ph idx="1" type="body"/>
          </p:nvPr>
        </p:nvSpPr>
        <p:spPr>
          <a:xfrm>
            <a:off x="279300" y="501125"/>
            <a:ext cx="8585400" cy="1130700"/>
          </a:xfrm>
          <a:prstGeom prst="rect">
            <a:avLst/>
          </a:prstGeom>
        </p:spPr>
        <p:txBody>
          <a:bodyPr anchorCtr="0" anchor="ctr" bIns="0" lIns="13715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endParaRPr sz="1500"/>
          </a:p>
        </p:txBody>
      </p:sp>
      <p:sp>
        <p:nvSpPr>
          <p:cNvPr id="44" name="Google Shape;44;p8"/>
          <p:cNvSpPr txBox="1"/>
          <p:nvPr>
            <p:ph type="title"/>
          </p:nvPr>
        </p:nvSpPr>
        <p:spPr>
          <a:xfrm>
            <a:off x="311700" y="64025"/>
            <a:ext cx="3013800" cy="393600"/>
          </a:xfrm>
          <a:prstGeom prst="rect">
            <a:avLst/>
          </a:prstGeom>
        </p:spPr>
        <p:txBody>
          <a:bodyPr anchorCtr="0" anchor="ctr" bIns="0" lIns="13715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rgbClr val="000000"/>
                </a:solidFill>
              </a:rPr>
              <a:t>Por que Random Forest?</a:t>
            </a:r>
            <a:endParaRPr/>
          </a:p>
        </p:txBody>
      </p:sp>
      <p:pic>
        <p:nvPicPr>
          <p:cNvPr id="45" name="Picture 44" descr="fig_rf_diversidad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000" y="1685099"/>
            <a:ext cx="5328000" cy="2137800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5616000" y="503999"/>
            <a:ext cx="3384000" cy="4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4285F4"/>
                </a:solidFill>
              </a:rPr>
              <a:t>Entrada → Processamento → Saída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700">
                <a:solidFill>
                  <a:srgbClr val="A4C2F4"/>
                </a:solidFill>
              </a:rPr>
              <a:t>────────────────────────────────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950">
                <a:solidFill>
                  <a:srgbClr val="212121"/>
                </a:solidFill>
              </a:rPr>
              <a:t>   • Entrada: cada pixel representado por 10 valores</a:t>
            </a:r>
          </a:p>
          <a:p>
            <a:pPr algn="l" lvl="1">
              <a:spcBef>
                <a:spcPts val="300"/>
              </a:spcBef>
              <a:spcAft>
                <a:spcPts val="100"/>
              </a:spcAft>
            </a:pPr>
            <a:r>
              <a:rPr sz="950">
                <a:solidFill>
                  <a:srgbClr val="212121"/>
                </a:solidFill>
              </a:rPr>
              <a:t>      ◦ (bandas espectrais + índices de vegetação)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950">
                <a:solidFill>
                  <a:srgbClr val="212121"/>
                </a:solidFill>
              </a:rPr>
              <a:t>   • Processamento:</a:t>
            </a:r>
          </a:p>
          <a:p>
            <a:pPr algn="l" lvl="1">
              <a:spcBef>
                <a:spcPts val="300"/>
              </a:spcBef>
              <a:spcAft>
                <a:spcPts val="100"/>
              </a:spcAft>
            </a:pPr>
            <a:r>
              <a:rPr sz="950">
                <a:solidFill>
                  <a:srgbClr val="212121"/>
                </a:solidFill>
              </a:rPr>
              <a:t>      ◦ Cria centenas de árvores de decisão</a:t>
            </a:r>
          </a:p>
          <a:p>
            <a:pPr algn="l" lvl="1">
              <a:spcBef>
                <a:spcPts val="300"/>
              </a:spcBef>
              <a:spcAft>
                <a:spcPts val="100"/>
              </a:spcAft>
            </a:pPr>
            <a:r>
              <a:rPr sz="950">
                <a:solidFill>
                  <a:srgbClr val="212121"/>
                </a:solidFill>
              </a:rPr>
              <a:t>      ◦ Cada árvore aprende com uma parte dos pixels</a:t>
            </a:r>
          </a:p>
          <a:p>
            <a:pPr algn="l" lvl="1">
              <a:spcBef>
                <a:spcPts val="300"/>
              </a:spcBef>
              <a:spcAft>
                <a:spcPts val="100"/>
              </a:spcAft>
            </a:pPr>
            <a:r>
              <a:rPr sz="950">
                <a:solidFill>
                  <a:srgbClr val="212121"/>
                </a:solidFill>
              </a:rPr>
              <a:t>      ◦ Cada árvore usa apenas alguns atributos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950">
                <a:solidFill>
                  <a:srgbClr val="212121"/>
                </a:solidFill>
              </a:rPr>
              <a:t>   • Saída: as árvores votam → maioria define a classe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950">
                <a:solidFill>
                  <a:srgbClr val="212121"/>
                </a:solidFill>
              </a:rPr>
              <a:t>   • Por que funciona bem:</a:t>
            </a:r>
          </a:p>
          <a:p>
            <a:pPr algn="l" lvl="1">
              <a:spcBef>
                <a:spcPts val="300"/>
              </a:spcBef>
              <a:spcAft>
                <a:spcPts val="100"/>
              </a:spcAft>
            </a:pPr>
            <a:r>
              <a:rPr sz="950">
                <a:solidFill>
                  <a:srgbClr val="212121"/>
                </a:solidFill>
              </a:rPr>
              <a:t>      ◦ Árvores diferentes cometem erros diferentes</a:t>
            </a:r>
          </a:p>
          <a:p>
            <a:pPr algn="l" lvl="1">
              <a:spcBef>
                <a:spcPts val="300"/>
              </a:spcBef>
              <a:spcAft>
                <a:spcPts val="100"/>
              </a:spcAft>
            </a:pPr>
            <a:r>
              <a:rPr sz="950">
                <a:solidFill>
                  <a:srgbClr val="212121"/>
                </a:solidFill>
              </a:rPr>
              <a:t>      ◦ A votação cancela erros individuais</a:t>
            </a:r>
          </a:p>
          <a:p>
            <a:pPr algn="l" lvl="1">
              <a:spcBef>
                <a:spcPts val="300"/>
              </a:spcBef>
              <a:spcAft>
                <a:spcPts val="100"/>
              </a:spcAft>
            </a:pPr>
            <a:r>
              <a:rPr sz="950">
                <a:solidFill>
                  <a:srgbClr val="212121"/>
                </a:solidFill>
              </a:rPr>
              <a:t>      ◦ Resultado mais estável do que uma única árvore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9"/>
          <p:cNvSpPr txBox="1"/>
          <p:nvPr>
            <p:ph type="title"/>
          </p:nvPr>
        </p:nvSpPr>
        <p:spPr>
          <a:xfrm>
            <a:off x="311700" y="64025"/>
            <a:ext cx="1316700" cy="393600"/>
          </a:xfrm>
          <a:prstGeom prst="rect">
            <a:avLst/>
          </a:prstGeom>
        </p:spPr>
        <p:txBody>
          <a:bodyPr anchorCtr="0" anchor="ctr" bIns="0" lIns="13715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rgbClr val="000000"/>
                </a:solidFill>
              </a:rPr>
              <a:t>Árvore de Decisão — Base do Random Forest</a:t>
            </a:r>
            <a:endParaRPr/>
          </a:p>
        </p:txBody>
      </p:sp>
      <p:pic>
        <p:nvPicPr>
          <p:cNvPr id="51" name="Picture 50" descr="fig_ca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000" y="1797060"/>
            <a:ext cx="5328000" cy="1913878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5616000" y="503999"/>
            <a:ext cx="3384000" cy="4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4285F4"/>
                </a:solidFill>
              </a:rPr>
              <a:t>Como uma árvore classifica um pixel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700">
                <a:solidFill>
                  <a:srgbClr val="A4C2F4"/>
                </a:solidFill>
              </a:rPr>
              <a:t>────────────────────────────────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950">
                <a:solidFill>
                  <a:srgbClr val="212121"/>
                </a:solidFill>
              </a:rPr>
              <a:t>   • Entrada: os 10 valores do pixel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950">
                <a:solidFill>
                  <a:srgbClr val="212121"/>
                </a:solidFill>
              </a:rPr>
              <a:t>   • A árvore faz perguntas simples:</a:t>
            </a:r>
          </a:p>
          <a:p>
            <a:pPr algn="l" lvl="1">
              <a:spcBef>
                <a:spcPts val="300"/>
              </a:spcBef>
              <a:spcAft>
                <a:spcPts val="100"/>
              </a:spcAft>
            </a:pPr>
            <a:r>
              <a:rPr sz="950">
                <a:solidFill>
                  <a:srgbClr val="212121"/>
                </a:solidFill>
              </a:rPr>
              <a:t>      ◦ "O NBR depois do fogo é menor que X?"</a:t>
            </a:r>
          </a:p>
          <a:p>
            <a:pPr algn="l" lvl="1">
              <a:spcBef>
                <a:spcPts val="300"/>
              </a:spcBef>
              <a:spcAft>
                <a:spcPts val="100"/>
              </a:spcAft>
            </a:pPr>
            <a:r>
              <a:rPr sz="950">
                <a:solidFill>
                  <a:srgbClr val="212121"/>
                </a:solidFill>
              </a:rPr>
              <a:t>      ◦ "O NDVI antes é maior que Y?"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950">
                <a:solidFill>
                  <a:srgbClr val="212121"/>
                </a:solidFill>
              </a:rPr>
              <a:t>   • Cada pergunta divide os pixels em dois grupos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950">
                <a:solidFill>
                  <a:srgbClr val="212121"/>
                </a:solidFill>
              </a:rPr>
              <a:t>   • O processo repete até formar grupos mais puros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950">
                <a:solidFill>
                  <a:srgbClr val="212121"/>
                </a:solidFill>
              </a:rPr>
              <a:t>   • Saída: o pixel chega a uma folha = classe definida</a:t>
            </a:r>
          </a:p>
          <a:p>
            <a:pPr algn="l" lvl="1">
              <a:spcBef>
                <a:spcPts val="300"/>
              </a:spcBef>
              <a:spcAft>
                <a:spcPts val="100"/>
              </a:spcAft>
            </a:pPr>
            <a:r>
              <a:rPr sz="950">
                <a:solidFill>
                  <a:srgbClr val="212121"/>
                </a:solidFill>
              </a:rPr>
              <a:t>      ◦ (queimado ou não queimado)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950">
                <a:solidFill>
                  <a:srgbClr val="212121"/>
                </a:solidFill>
              </a:rPr>
              <a:t>   • Vantagens:</a:t>
            </a:r>
          </a:p>
          <a:p>
            <a:pPr algn="l" lvl="1">
              <a:spcBef>
                <a:spcPts val="300"/>
              </a:spcBef>
              <a:spcAft>
                <a:spcPts val="100"/>
              </a:spcAft>
            </a:pPr>
            <a:r>
              <a:rPr sz="950">
                <a:solidFill>
                  <a:srgbClr val="212121"/>
                </a:solidFill>
              </a:rPr>
              <a:t>      ◦ Aprende os limiares automaticamente</a:t>
            </a:r>
          </a:p>
          <a:p>
            <a:pPr algn="l" lvl="1">
              <a:spcBef>
                <a:spcPts val="300"/>
              </a:spcBef>
              <a:spcAft>
                <a:spcPts val="100"/>
              </a:spcAft>
            </a:pPr>
            <a:r>
              <a:rPr sz="950">
                <a:solidFill>
                  <a:srgbClr val="212121"/>
                </a:solidFill>
              </a:rPr>
              <a:t>      ◦ Não precisa que os dados estejam na mesma escala</a:t>
            </a:r>
          </a:p>
          <a:p>
            <a:pPr algn="l" lvl="1">
              <a:spcBef>
                <a:spcPts val="300"/>
              </a:spcBef>
              <a:spcAft>
                <a:spcPts val="100"/>
              </a:spcAft>
            </a:pPr>
            <a:r>
              <a:rPr sz="950">
                <a:solidFill>
                  <a:srgbClr val="212121"/>
                </a:solidFill>
              </a:rPr>
              <a:t>      ◦ Captura relações entre bandas naturalmente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0"/>
          <p:cNvSpPr txBox="1"/>
          <p:nvPr>
            <p:ph type="title"/>
          </p:nvPr>
        </p:nvSpPr>
        <p:spPr>
          <a:xfrm>
            <a:off x="311700" y="64025"/>
            <a:ext cx="4058100" cy="393600"/>
          </a:xfrm>
          <a:prstGeom prst="rect">
            <a:avLst/>
          </a:prstGeom>
        </p:spPr>
        <p:txBody>
          <a:bodyPr anchorCtr="0" anchor="ctr" bIns="0" lIns="137150" spcFirstLastPara="1" rIns="0" wrap="square" tIns="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rgbClr val="000000"/>
                </a:solidFill>
              </a:rPr>
              <a:t>Atributos — O que entra no modelo por pixel</a:t>
            </a:r>
            <a:endParaRPr/>
          </a:p>
        </p:txBody>
      </p:sp>
      <p:pic>
        <p:nvPicPr>
          <p:cNvPr id="57" name="Picture 56" descr="fig_features_s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000" y="987457"/>
            <a:ext cx="5328000" cy="3533085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5616000" y="503999"/>
            <a:ext cx="3384000" cy="4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4285F4"/>
                </a:solidFill>
              </a:rPr>
              <a:t>Entrada: 10 valores por pixel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700">
                <a:solidFill>
                  <a:srgbClr val="A4C2F4"/>
                </a:solidFill>
              </a:rPr>
              <a:t>────────────────────────────────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950">
                <a:solidFill>
                  <a:srgbClr val="212121"/>
                </a:solidFill>
              </a:rPr>
              <a:t>   • São usadas 2 imagens: antes e depois do incêndio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950">
                <a:solidFill>
                  <a:srgbClr val="212121"/>
                </a:solidFill>
              </a:rPr>
              <a:t>   • De cada imagem extraímos 5 valores por pixel:</a:t>
            </a:r>
          </a:p>
          <a:p>
            <a:pPr algn="l" lvl="1">
              <a:spcBef>
                <a:spcPts val="300"/>
              </a:spcBef>
              <a:spcAft>
                <a:spcPts val="100"/>
              </a:spcAft>
            </a:pPr>
            <a:r>
              <a:rPr sz="950">
                <a:solidFill>
                  <a:srgbClr val="212121"/>
                </a:solidFill>
              </a:rPr>
              <a:t>      ◦ Banda B4 (vermelho visível)</a:t>
            </a:r>
          </a:p>
          <a:p>
            <a:pPr algn="l" lvl="1">
              <a:spcBef>
                <a:spcPts val="300"/>
              </a:spcBef>
              <a:spcAft>
                <a:spcPts val="100"/>
              </a:spcAft>
            </a:pPr>
            <a:r>
              <a:rPr sz="950">
                <a:solidFill>
                  <a:srgbClr val="212121"/>
                </a:solidFill>
              </a:rPr>
              <a:t>      ◦ Banda B5 (infravermelho próximo)</a:t>
            </a:r>
          </a:p>
          <a:p>
            <a:pPr algn="l" lvl="1">
              <a:spcBef>
                <a:spcPts val="300"/>
              </a:spcBef>
              <a:spcAft>
                <a:spcPts val="100"/>
              </a:spcAft>
            </a:pPr>
            <a:r>
              <a:rPr sz="950">
                <a:solidFill>
                  <a:srgbClr val="212121"/>
                </a:solidFill>
              </a:rPr>
              <a:t>      ◦ Banda B7 (infravermelho de ondas curtas)</a:t>
            </a:r>
          </a:p>
          <a:p>
            <a:pPr algn="l" lvl="1">
              <a:spcBef>
                <a:spcPts val="300"/>
              </a:spcBef>
              <a:spcAft>
                <a:spcPts val="100"/>
              </a:spcAft>
            </a:pPr>
            <a:r>
              <a:rPr sz="950">
                <a:solidFill>
                  <a:srgbClr val="212121"/>
                </a:solidFill>
              </a:rPr>
              <a:t>      ◦ NDVI (índice de vegetação)</a:t>
            </a:r>
          </a:p>
          <a:p>
            <a:pPr algn="l" lvl="1">
              <a:spcBef>
                <a:spcPts val="300"/>
              </a:spcBef>
              <a:spcAft>
                <a:spcPts val="100"/>
              </a:spcAft>
            </a:pPr>
            <a:r>
              <a:rPr sz="950">
                <a:solidFill>
                  <a:srgbClr val="212121"/>
                </a:solidFill>
              </a:rPr>
              <a:t>      ◦ NBR  (índice de área queimada)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950">
                <a:solidFill>
                  <a:srgbClr val="212121"/>
                </a:solidFill>
              </a:rPr>
              <a:t>   • O gráfico mostra o quanto cada atributo separa</a:t>
            </a:r>
          </a:p>
          <a:p>
            <a:pPr algn="l" lvl="1">
              <a:spcBef>
                <a:spcPts val="300"/>
              </a:spcBef>
              <a:spcAft>
                <a:spcPts val="100"/>
              </a:spcAft>
            </a:pPr>
            <a:r>
              <a:rPr sz="950">
                <a:solidFill>
                  <a:srgbClr val="212121"/>
                </a:solidFill>
              </a:rPr>
              <a:t>      ◦ as duas classes (verde = não queimado, vermelho = queimado)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950">
                <a:solidFill>
                  <a:srgbClr val="212121"/>
                </a:solidFill>
              </a:rPr>
              <a:t>   • dNBR e dNDVI foram excluídos:</a:t>
            </a:r>
          </a:p>
          <a:p>
            <a:pPr algn="l" lvl="1">
              <a:spcBef>
                <a:spcPts val="300"/>
              </a:spcBef>
              <a:spcAft>
                <a:spcPts val="100"/>
              </a:spcAft>
            </a:pPr>
            <a:r>
              <a:rPr sz="950">
                <a:solidFill>
                  <a:srgbClr val="212121"/>
                </a:solidFill>
              </a:rPr>
              <a:t>      ◦ A máscara de referência foi criada com dNBR</a:t>
            </a:r>
          </a:p>
          <a:p>
            <a:pPr algn="l" lvl="1">
              <a:spcBef>
                <a:spcPts val="300"/>
              </a:spcBef>
              <a:spcAft>
                <a:spcPts val="100"/>
              </a:spcAft>
            </a:pPr>
            <a:r>
              <a:rPr sz="950">
                <a:solidFill>
                  <a:srgbClr val="212121"/>
                </a:solidFill>
              </a:rPr>
              <a:t>      ◦ Usar como entrada seria usar a resposta para treinar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/>
          <p:nvPr>
            <p:ph type="title"/>
          </p:nvPr>
        </p:nvSpPr>
        <p:spPr>
          <a:xfrm>
            <a:off x="311700" y="64025"/>
            <a:ext cx="1255800" cy="393600"/>
          </a:xfrm>
          <a:prstGeom prst="rect">
            <a:avLst/>
          </a:prstGeom>
        </p:spPr>
        <p:txBody>
          <a:bodyPr anchorCtr="0" anchor="ctr" bIns="0" lIns="13715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rgbClr val="000000"/>
                </a:solidFill>
              </a:rPr>
              <a:t>Desbalanceamento — O Problema das Classes</a:t>
            </a:r>
            <a:endParaRPr/>
          </a:p>
        </p:txBody>
      </p:sp>
      <p:pic>
        <p:nvPicPr>
          <p:cNvPr id="63" name="Picture 62" descr="fig_resampl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000" y="640309"/>
            <a:ext cx="5328000" cy="4227380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5616000" y="503999"/>
            <a:ext cx="3384000" cy="4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4285F4"/>
                </a:solidFill>
              </a:rPr>
              <a:t>Problema: muito mais não-queimado do que queimado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700">
                <a:solidFill>
                  <a:srgbClr val="A4C2F4"/>
                </a:solidFill>
              </a:rPr>
              <a:t>────────────────────────────────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950">
                <a:solidFill>
                  <a:srgbClr val="212121"/>
                </a:solidFill>
              </a:rPr>
              <a:t>   • Nas imagens: apenas 4–8% dos pixels são queimados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950">
                <a:solidFill>
                  <a:srgbClr val="212121"/>
                </a:solidFill>
              </a:rPr>
              <a:t>   • Sem correção: o modelo aprende a ignorar queimadas</a:t>
            </a:r>
          </a:p>
          <a:p>
            <a:pPr algn="l" lvl="1">
              <a:spcBef>
                <a:spcPts val="300"/>
              </a:spcBef>
              <a:spcAft>
                <a:spcPts val="100"/>
              </a:spcAft>
            </a:pPr>
            <a:r>
              <a:rPr sz="950">
                <a:solidFill>
                  <a:srgbClr val="212121"/>
                </a:solidFill>
              </a:rPr>
              <a:t>      ◦ Acerta 95% só dizendo "não queimado" o tempo todo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950">
                <a:solidFill>
                  <a:srgbClr val="212121"/>
                </a:solidFill>
              </a:rPr>
              <a:t>   • 4 estratégias testadas para corrigir:</a:t>
            </a:r>
          </a:p>
          <a:p>
            <a:pPr algn="l" lvl="1">
              <a:spcBef>
                <a:spcPts val="300"/>
              </a:spcBef>
              <a:spcAft>
                <a:spcPts val="100"/>
              </a:spcAft>
            </a:pPr>
            <a:r>
              <a:rPr sz="950">
                <a:solidFill>
                  <a:srgbClr val="212121"/>
                </a:solidFill>
              </a:rPr>
              <a:t>      ◦ Peso por classe: penaliza mais o erro na minoria</a:t>
            </a:r>
          </a:p>
          <a:p>
            <a:pPr algn="l" lvl="1">
              <a:spcBef>
                <a:spcPts val="300"/>
              </a:spcBef>
              <a:spcAft>
                <a:spcPts val="100"/>
              </a:spcAft>
            </a:pPr>
            <a:r>
              <a:rPr sz="950">
                <a:solidFill>
                  <a:srgbClr val="212121"/>
                </a:solidFill>
              </a:rPr>
              <a:t>      ◦ Undersampling: descarta pixels não-queimados</a:t>
            </a:r>
          </a:p>
          <a:p>
            <a:pPr algn="l" lvl="1">
              <a:spcBef>
                <a:spcPts val="300"/>
              </a:spcBef>
              <a:spcAft>
                <a:spcPts val="100"/>
              </a:spcAft>
            </a:pPr>
            <a:r>
              <a:rPr sz="950">
                <a:solidFill>
                  <a:srgbClr val="212121"/>
                </a:solidFill>
              </a:rPr>
              <a:t>      ◦ → treino equilibrado 1:1</a:t>
            </a:r>
          </a:p>
          <a:p>
            <a:pPr algn="l" lvl="1">
              <a:spcBef>
                <a:spcPts val="300"/>
              </a:spcBef>
              <a:spcAft>
                <a:spcPts val="100"/>
              </a:spcAft>
            </a:pPr>
            <a:r>
              <a:rPr sz="950">
                <a:solidFill>
                  <a:srgbClr val="212121"/>
                </a:solidFill>
              </a:rPr>
              <a:t>      ◦ SMOTE: cria pixels queimados sintéticos</a:t>
            </a:r>
          </a:p>
          <a:p>
            <a:pPr algn="l" lvl="1">
              <a:spcBef>
                <a:spcPts val="300"/>
              </a:spcBef>
              <a:spcAft>
                <a:spcPts val="100"/>
              </a:spcAft>
            </a:pPr>
            <a:r>
              <a:rPr sz="950">
                <a:solidFill>
                  <a:srgbClr val="212121"/>
                </a:solidFill>
              </a:rPr>
              <a:t>      ◦ → interpola entre pixels reais</a:t>
            </a:r>
          </a:p>
          <a:p>
            <a:pPr algn="l" lvl="1">
              <a:spcBef>
                <a:spcPts val="300"/>
              </a:spcBef>
              <a:spcAft>
                <a:spcPts val="100"/>
              </a:spcAft>
            </a:pPr>
            <a:r>
              <a:rPr sz="950">
                <a:solidFill>
                  <a:srgbClr val="212121"/>
                </a:solidFill>
              </a:rPr>
              <a:t>      ◦ SMOTETomek: SMOTE + remove pixels confusos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950">
                <a:solidFill>
                  <a:srgbClr val="212121"/>
                </a:solidFill>
              </a:rPr>
              <a:t>   • Resultado nos dados reais com F₁:</a:t>
            </a:r>
          </a:p>
          <a:p>
            <a:pPr algn="l" lvl="1">
              <a:spcBef>
                <a:spcPts val="300"/>
              </a:spcBef>
              <a:spcAft>
                <a:spcPts val="100"/>
              </a:spcAft>
            </a:pPr>
            <a:r>
              <a:rPr sz="950">
                <a:solidFill>
                  <a:srgbClr val="212121"/>
                </a:solidFill>
              </a:rPr>
              <a:t>      ◦ SMOTETomek/SMOTE lideram com τ=0.5 (F₁=0.220)</a:t>
            </a:r>
          </a:p>
          <a:p>
            <a:pPr algn="l" lvl="1">
              <a:spcBef>
                <a:spcPts val="300"/>
              </a:spcBef>
              <a:spcAft>
                <a:spcPts val="100"/>
              </a:spcAft>
            </a:pPr>
            <a:r>
              <a:rPr sz="950">
                <a:solidFill>
                  <a:srgbClr val="212121"/>
                </a:solidFill>
              </a:rPr>
              <a:t>      ◦ class_weight + τ* lidera após ajuste (F₁=0.262)</a:t>
            </a:r>
          </a:p>
          <a:p>
            <a:pPr algn="l" lvl="1">
              <a:spcBef>
                <a:spcPts val="300"/>
              </a:spcBef>
              <a:spcAft>
                <a:spcPts val="100"/>
              </a:spcAft>
            </a:pPr>
            <a:r>
              <a:rPr sz="950">
                <a:solidFill>
                  <a:srgbClr val="212121"/>
                </a:solidFill>
              </a:rPr>
              <a:t>      ◦ Undersampling: maior Recall, mas menor F₁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2"/>
          <p:cNvSpPr txBox="1"/>
          <p:nvPr>
            <p:ph type="title"/>
          </p:nvPr>
        </p:nvSpPr>
        <p:spPr>
          <a:xfrm>
            <a:off x="311700" y="64025"/>
            <a:ext cx="951000" cy="393600"/>
          </a:xfrm>
          <a:prstGeom prst="rect">
            <a:avLst/>
          </a:prstGeom>
        </p:spPr>
        <p:txBody>
          <a:bodyPr anchorCtr="0" anchor="ctr" bIns="0" lIns="13715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rgbClr val="000000"/>
                </a:solidFill>
              </a:rPr>
              <a:t>Validação — Como Dividir Treino e Teste</a:t>
            </a:r>
            <a:endParaRPr/>
          </a:p>
        </p:txBody>
      </p:sp>
      <p:pic>
        <p:nvPicPr>
          <p:cNvPr id="69" name="Picture 68" descr="fig_bloco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000" y="1814936"/>
            <a:ext cx="5328000" cy="1878127"/>
          </a:xfrm>
          <a:prstGeom prst="rect">
            <a:avLst/>
          </a:prstGeom>
        </p:spPr>
      </p:pic>
      <p:sp>
        <p:nvSpPr>
          <p:cNvPr id="70" name="TextBox 69"/>
          <p:cNvSpPr txBox="1"/>
          <p:nvPr/>
        </p:nvSpPr>
        <p:spPr>
          <a:xfrm>
            <a:off x="5616000" y="503999"/>
            <a:ext cx="3384000" cy="4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4285F4"/>
                </a:solidFill>
              </a:rPr>
              <a:t>O problema da divisão aleatória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700">
                <a:solidFill>
                  <a:srgbClr val="A4C2F4"/>
                </a:solidFill>
              </a:rPr>
              <a:t>────────────────────────────────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950">
                <a:solidFill>
                  <a:srgbClr val="212121"/>
                </a:solidFill>
              </a:rPr>
              <a:t>   • Pixels vizinhos na imagem são muito parecidos:</a:t>
            </a:r>
          </a:p>
          <a:p>
            <a:pPr algn="l" lvl="1">
              <a:spcBef>
                <a:spcPts val="300"/>
              </a:spcBef>
              <a:spcAft>
                <a:spcPts val="100"/>
              </a:spcAft>
            </a:pPr>
            <a:r>
              <a:rPr sz="950">
                <a:solidFill>
                  <a:srgbClr val="212121"/>
                </a:solidFill>
              </a:rPr>
              <a:t>      ◦ mesma vegetação, mesma atmosfera, mesma cena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950">
                <a:solidFill>
                  <a:srgbClr val="212121"/>
                </a:solidFill>
              </a:rPr>
              <a:t>   • Divisão aleatória: treino e teste ficam lado a lado</a:t>
            </a:r>
          </a:p>
          <a:p>
            <a:pPr algn="l" lvl="1">
              <a:spcBef>
                <a:spcPts val="300"/>
              </a:spcBef>
              <a:spcAft>
                <a:spcPts val="100"/>
              </a:spcAft>
            </a:pPr>
            <a:r>
              <a:rPr sz="950">
                <a:solidFill>
                  <a:srgbClr val="212121"/>
                </a:solidFill>
              </a:rPr>
              <a:t>      ◦ O modelo "memoriza" a vizinhança geográfica</a:t>
            </a:r>
          </a:p>
          <a:p>
            <a:pPr algn="l" lvl="1">
              <a:spcBef>
                <a:spcPts val="300"/>
              </a:spcBef>
              <a:spcAft>
                <a:spcPts val="100"/>
              </a:spcAft>
            </a:pPr>
            <a:r>
              <a:rPr sz="950">
                <a:solidFill>
                  <a:srgbClr val="212121"/>
                </a:solidFill>
              </a:rPr>
              <a:t>      ◦ Parece funcionar bem mas falha em novas imagens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950">
                <a:solidFill>
                  <a:srgbClr val="212121"/>
                </a:solidFill>
              </a:rPr>
              <a:t>   • Solução: dividir a imagem em 16 blocos geográficos</a:t>
            </a:r>
          </a:p>
          <a:p>
            <a:pPr algn="l" lvl="1">
              <a:spcBef>
                <a:spcPts val="300"/>
              </a:spcBef>
              <a:spcAft>
                <a:spcPts val="100"/>
              </a:spcAft>
            </a:pPr>
            <a:r>
              <a:rPr sz="950">
                <a:solidFill>
                  <a:srgbClr val="212121"/>
                </a:solidFill>
              </a:rPr>
              <a:t>      ◦ 4 blocos (~25%) reservados só para teste</a:t>
            </a:r>
          </a:p>
          <a:p>
            <a:pPr algn="l" lvl="1">
              <a:spcBef>
                <a:spcPts val="300"/>
              </a:spcBef>
              <a:spcAft>
                <a:spcPts val="100"/>
              </a:spcAft>
            </a:pPr>
            <a:r>
              <a:rPr sz="950">
                <a:solidFill>
                  <a:srgbClr val="212121"/>
                </a:solidFill>
              </a:rPr>
              <a:t>      ◦ Treino e teste separados geograficamente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950">
                <a:solidFill>
                  <a:srgbClr val="212121"/>
                </a:solidFill>
              </a:rPr>
              <a:t>   • Resultado da diferença:</a:t>
            </a:r>
          </a:p>
          <a:p>
            <a:pPr algn="l" lvl="1">
              <a:spcBef>
                <a:spcPts val="300"/>
              </a:spcBef>
              <a:spcAft>
                <a:spcPts val="100"/>
              </a:spcAft>
            </a:pPr>
            <a:r>
              <a:rPr sz="950">
                <a:solidFill>
                  <a:srgbClr val="212121"/>
                </a:solidFill>
              </a:rPr>
              <a:t>      ◦ Divisão aleatória: F1 ≈ 0.89 (resultado inflado)</a:t>
            </a:r>
          </a:p>
          <a:p>
            <a:pPr algn="l" lvl="1">
              <a:spcBef>
                <a:spcPts val="300"/>
              </a:spcBef>
              <a:spcAft>
                <a:spcPts val="100"/>
              </a:spcAft>
            </a:pPr>
            <a:r>
              <a:rPr sz="950">
                <a:solidFill>
                  <a:srgbClr val="212121"/>
                </a:solidFill>
              </a:rPr>
              <a:t>      ◦ Blocos espaciais: F1 ≈ 0.48 (resultado real)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950">
                <a:solidFill>
                  <a:srgbClr val="212121"/>
                </a:solidFill>
              </a:rPr>
              <a:t>   • Assim garantimos que o modelo aprendeu os padrões</a:t>
            </a:r>
          </a:p>
          <a:p>
            <a:pPr algn="l" lvl="1">
              <a:spcBef>
                <a:spcPts val="300"/>
              </a:spcBef>
              <a:spcAft>
                <a:spcPts val="100"/>
              </a:spcAft>
            </a:pPr>
            <a:r>
              <a:rPr sz="950">
                <a:solidFill>
                  <a:srgbClr val="212121"/>
                </a:solidFill>
              </a:rPr>
              <a:t>      ◦ espectrais, não apenas onde está na imagem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3"/>
          <p:cNvSpPr txBox="1"/>
          <p:nvPr>
            <p:ph type="title"/>
          </p:nvPr>
        </p:nvSpPr>
        <p:spPr>
          <a:xfrm>
            <a:off x="311700" y="64025"/>
            <a:ext cx="1490700" cy="393600"/>
          </a:xfrm>
          <a:prstGeom prst="rect">
            <a:avLst/>
          </a:prstGeom>
        </p:spPr>
        <p:txBody>
          <a:bodyPr anchorCtr="0" anchor="ctr" bIns="0" lIns="13715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rgbClr val="000000"/>
                </a:solidFill>
              </a:rPr>
              <a:t>Limiar de Decisão — Quando dizer "queimado"?</a:t>
            </a:r>
            <a:endParaRPr/>
          </a:p>
        </p:txBody>
      </p:sp>
      <p:pic>
        <p:nvPicPr>
          <p:cNvPr id="75" name="Picture 74" descr="fig_thresho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000" y="1801289"/>
            <a:ext cx="5328000" cy="1905420"/>
          </a:xfrm>
          <a:prstGeom prst="rect">
            <a:avLst/>
          </a:prstGeom>
        </p:spPr>
      </p:pic>
      <p:sp>
        <p:nvSpPr>
          <p:cNvPr id="76" name="TextBox 75"/>
          <p:cNvSpPr txBox="1"/>
          <p:nvPr/>
        </p:nvSpPr>
        <p:spPr>
          <a:xfrm>
            <a:off x="5616000" y="503999"/>
            <a:ext cx="3384000" cy="4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4285F4"/>
                </a:solidFill>
              </a:rPr>
              <a:t>Saída do modelo: uma probabilidade de 0 a 1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700">
                <a:solidFill>
                  <a:srgbClr val="A4C2F4"/>
                </a:solidFill>
              </a:rPr>
              <a:t>────────────────────────────────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950">
                <a:solidFill>
                  <a:srgbClr val="212121"/>
                </a:solidFill>
              </a:rPr>
              <a:t>   • O RF não diz "queimado" ou "não queimado" diretamente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950">
                <a:solidFill>
                  <a:srgbClr val="212121"/>
                </a:solidFill>
              </a:rPr>
              <a:t>   • Ele diz: "este pixel tem X% de chance de ser queimado"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950">
                <a:solidFill>
                  <a:srgbClr val="212121"/>
                </a:solidFill>
              </a:rPr>
              <a:t>   • O limiar (threshold) define o ponto de corte:</a:t>
            </a:r>
          </a:p>
          <a:p>
            <a:pPr algn="l" lvl="1">
              <a:spcBef>
                <a:spcPts val="300"/>
              </a:spcBef>
              <a:spcAft>
                <a:spcPts val="100"/>
              </a:spcAft>
            </a:pPr>
            <a:r>
              <a:rPr sz="950">
                <a:solidFill>
                  <a:srgbClr val="212121"/>
                </a:solidFill>
              </a:rPr>
              <a:t>      ◦ acima = queimado / abaixo = não queimado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950">
                <a:solidFill>
                  <a:srgbClr val="212121"/>
                </a:solidFill>
              </a:rPr>
              <a:t>   • Problema com limiar padrão de 50%:</a:t>
            </a:r>
          </a:p>
          <a:p>
            <a:pPr algn="l" lvl="1">
              <a:spcBef>
                <a:spcPts val="300"/>
              </a:spcBef>
              <a:spcAft>
                <a:spcPts val="100"/>
              </a:spcAft>
            </a:pPr>
            <a:r>
              <a:rPr sz="950">
                <a:solidFill>
                  <a:srgbClr val="212121"/>
                </a:solidFill>
              </a:rPr>
              <a:t>      ◦ Com classes desbalanceadas, probabilidades são baixas</a:t>
            </a:r>
          </a:p>
          <a:p>
            <a:pPr algn="l" lvl="1">
              <a:spcBef>
                <a:spcPts val="300"/>
              </a:spcBef>
              <a:spcAft>
                <a:spcPts val="100"/>
              </a:spcAft>
            </a:pPr>
            <a:r>
              <a:rPr sz="950">
                <a:solidFill>
                  <a:srgbClr val="212121"/>
                </a:solidFill>
              </a:rPr>
              <a:t>      ◦ Resultado: quase nenhuma queimada detectada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950">
                <a:solidFill>
                  <a:srgbClr val="212121"/>
                </a:solidFill>
              </a:rPr>
              <a:t>   • Solução: variar o limiar e medir o resultado</a:t>
            </a:r>
          </a:p>
          <a:p>
            <a:pPr algn="l" lvl="1">
              <a:spcBef>
                <a:spcPts val="300"/>
              </a:spcBef>
              <a:spcAft>
                <a:spcPts val="100"/>
              </a:spcAft>
            </a:pPr>
            <a:r>
              <a:rPr sz="950">
                <a:solidFill>
                  <a:srgbClr val="212121"/>
                </a:solidFill>
              </a:rPr>
              <a:t>      ◦ O gráfico mostra desempenho em cada limiar</a:t>
            </a:r>
          </a:p>
          <a:p>
            <a:pPr algn="l" lvl="1">
              <a:spcBef>
                <a:spcPts val="300"/>
              </a:spcBef>
              <a:spcAft>
                <a:spcPts val="100"/>
              </a:spcAft>
            </a:pPr>
            <a:r>
              <a:rPr sz="950">
                <a:solidFill>
                  <a:srgbClr val="212121"/>
                </a:solidFill>
              </a:rPr>
              <a:t>      ◦ Buscamos o limiar com melhor F₁ (equilibra Precision e Recall)</a:t>
            </a:r>
          </a:p>
          <a:p>
            <a:pPr algn="l" lvl="1">
              <a:spcBef>
                <a:spcPts val="300"/>
              </a:spcBef>
              <a:spcAft>
                <a:spcPts val="100"/>
              </a:spcAft>
            </a:pPr>
            <a:r>
              <a:rPr sz="950">
                <a:solidFill>
                  <a:srgbClr val="212121"/>
                </a:solidFill>
              </a:rPr>
              <a:t>      ◦ Penaliza igualmente queimadas perdidas e alarmes falsos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950">
                <a:solidFill>
                  <a:srgbClr val="212121"/>
                </a:solidFill>
              </a:rPr>
              <a:t>   • Resultado: limiar ótimo ≈ 0.14 a 0.65</a:t>
            </a:r>
          </a:p>
          <a:p>
            <a:pPr algn="l" lvl="1">
              <a:spcBef>
                <a:spcPts val="300"/>
              </a:spcBef>
              <a:spcAft>
                <a:spcPts val="100"/>
              </a:spcAft>
            </a:pPr>
            <a:r>
              <a:rPr sz="950">
                <a:solidFill>
                  <a:srgbClr val="212121"/>
                </a:solidFill>
              </a:rPr>
              <a:t>      ◦ Precision sobe de 22% para 38%, Recall = 29%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4"/>
          <p:cNvSpPr txBox="1"/>
          <p:nvPr>
            <p:ph type="title"/>
          </p:nvPr>
        </p:nvSpPr>
        <p:spPr>
          <a:xfrm>
            <a:off x="311700" y="64025"/>
            <a:ext cx="1177500" cy="393600"/>
          </a:xfrm>
          <a:prstGeom prst="rect">
            <a:avLst/>
          </a:prstGeom>
        </p:spPr>
        <p:txBody>
          <a:bodyPr anchorCtr="0" anchor="ctr" bIns="0" lIns="13715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rgbClr val="000000"/>
                </a:solidFill>
              </a:rPr>
              <a:t>Métricas — Como Medir o Desempenho Real</a:t>
            </a:r>
            <a:endParaRPr/>
          </a:p>
        </p:txBody>
      </p:sp>
      <p:pic>
        <p:nvPicPr>
          <p:cNvPr id="81" name="Picture 80" descr="fig_metrica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000" y="1767082"/>
            <a:ext cx="5328000" cy="1973835"/>
          </a:xfrm>
          <a:prstGeom prst="rect">
            <a:avLst/>
          </a:prstGeom>
        </p:spPr>
      </p:pic>
      <p:sp>
        <p:nvSpPr>
          <p:cNvPr id="82" name="TextBox 81"/>
          <p:cNvSpPr txBox="1"/>
          <p:nvPr/>
        </p:nvSpPr>
        <p:spPr>
          <a:xfrm>
            <a:off x="5616000" y="503999"/>
            <a:ext cx="3384000" cy="4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4285F4"/>
                </a:solidFill>
              </a:rPr>
              <a:t>Por que acurácia sozinha engana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700">
                <a:solidFill>
                  <a:srgbClr val="A4C2F4"/>
                </a:solidFill>
              </a:rPr>
              <a:t>────────────────────────────────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950">
                <a:solidFill>
                  <a:srgbClr val="212121"/>
                </a:solidFill>
              </a:rPr>
              <a:t>   • Se 95% dos pixels não são queimados:</a:t>
            </a:r>
          </a:p>
          <a:p>
            <a:pPr algn="l" lvl="1">
              <a:spcBef>
                <a:spcPts val="300"/>
              </a:spcBef>
              <a:spcAft>
                <a:spcPts val="100"/>
              </a:spcAft>
            </a:pPr>
            <a:r>
              <a:rPr sz="950">
                <a:solidFill>
                  <a:srgbClr val="212121"/>
                </a:solidFill>
              </a:rPr>
              <a:t>      ◦ Dizer "não queimado" sempre → acurácia de 95%!</a:t>
            </a:r>
          </a:p>
          <a:p>
            <a:pPr algn="l" lvl="1">
              <a:spcBef>
                <a:spcPts val="300"/>
              </a:spcBef>
              <a:spcAft>
                <a:spcPts val="100"/>
              </a:spcAft>
            </a:pPr>
            <a:r>
              <a:rPr sz="950">
                <a:solidFill>
                  <a:srgbClr val="212121"/>
                </a:solidFill>
              </a:rPr>
              <a:t>      ◦ Mas não detectou nenhuma queimada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950">
                <a:solidFill>
                  <a:srgbClr val="212121"/>
                </a:solidFill>
              </a:rPr>
              <a:t>   • Métricas que realmente importam: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950">
                <a:solidFill>
                  <a:srgbClr val="212121"/>
                </a:solidFill>
              </a:rPr>
              <a:t>   • F₁-Score (principal):</a:t>
            </a:r>
          </a:p>
          <a:p>
            <a:pPr algn="l" lvl="1">
              <a:spcBef>
                <a:spcPts val="300"/>
              </a:spcBef>
              <a:spcAft>
                <a:spcPts val="100"/>
              </a:spcAft>
            </a:pPr>
            <a:r>
              <a:rPr sz="950">
                <a:solidFill>
                  <a:srgbClr val="212121"/>
                </a:solidFill>
              </a:rPr>
              <a:t>      ◦ Equilibra Precision e Recall em peso igual</a:t>
            </a:r>
          </a:p>
          <a:p>
            <a:pPr algn="l" lvl="1">
              <a:spcBef>
                <a:spcPts val="300"/>
              </a:spcBef>
              <a:spcAft>
                <a:spcPts val="100"/>
              </a:spcAft>
            </a:pPr>
            <a:r>
              <a:rPr sz="950">
                <a:solidFill>
                  <a:srgbClr val="212121"/>
                </a:solidFill>
              </a:rPr>
              <a:t>      ◦ Penaliza tanto queimadas perdidas quanto alarmes falsos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950">
                <a:solidFill>
                  <a:srgbClr val="212121"/>
                </a:solidFill>
              </a:rPr>
              <a:t>   • Recall:</a:t>
            </a:r>
          </a:p>
          <a:p>
            <a:pPr algn="l" lvl="1">
              <a:spcBef>
                <a:spcPts val="300"/>
              </a:spcBef>
              <a:spcAft>
                <a:spcPts val="100"/>
              </a:spcAft>
            </a:pPr>
            <a:r>
              <a:rPr sz="950">
                <a:solidFill>
                  <a:srgbClr val="212121"/>
                </a:solidFill>
              </a:rPr>
              <a:t>      ◦ Das queimadas reais, quantas foram detectadas?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950">
                <a:solidFill>
                  <a:srgbClr val="212121"/>
                </a:solidFill>
              </a:rPr>
              <a:t>   • Precision:</a:t>
            </a:r>
          </a:p>
          <a:p>
            <a:pPr algn="l" lvl="1">
              <a:spcBef>
                <a:spcPts val="300"/>
              </a:spcBef>
              <a:spcAft>
                <a:spcPts val="100"/>
              </a:spcAft>
            </a:pPr>
            <a:r>
              <a:rPr sz="950">
                <a:solidFill>
                  <a:srgbClr val="212121"/>
                </a:solidFill>
              </a:rPr>
              <a:t>      ◦ Das que disse "queimado", quantas realmente eram?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950">
                <a:solidFill>
                  <a:srgbClr val="212121"/>
                </a:solidFill>
              </a:rPr>
              <a:t>   • MCC e Kappa:</a:t>
            </a:r>
          </a:p>
          <a:p>
            <a:pPr algn="l" lvl="1">
              <a:spcBef>
                <a:spcPts val="300"/>
              </a:spcBef>
              <a:spcAft>
                <a:spcPts val="100"/>
              </a:spcAft>
            </a:pPr>
            <a:r>
              <a:rPr sz="950">
                <a:solidFill>
                  <a:srgbClr val="212121"/>
                </a:solidFill>
              </a:rPr>
              <a:t>      ◦ Consideram todos os tipos de erro juntos</a:t>
            </a:r>
          </a:p>
          <a:p>
            <a:pPr algn="l" lvl="1">
              <a:spcBef>
                <a:spcPts val="300"/>
              </a:spcBef>
              <a:spcAft>
                <a:spcPts val="100"/>
              </a:spcAft>
            </a:pPr>
            <a:r>
              <a:rPr sz="950">
                <a:solidFill>
                  <a:srgbClr val="212121"/>
                </a:solidFill>
              </a:rPr>
              <a:t>      ◦ Desconta acertos que seriam por sorte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950">
                <a:solidFill>
                  <a:srgbClr val="212121"/>
                </a:solidFill>
              </a:rPr>
              <a:t>   • Saída: F₁ é a métrica principal neste trabalho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5"/>
          <p:cNvSpPr txBox="1"/>
          <p:nvPr>
            <p:ph type="title"/>
          </p:nvPr>
        </p:nvSpPr>
        <p:spPr>
          <a:xfrm>
            <a:off x="311700" y="64025"/>
            <a:ext cx="1238400" cy="393600"/>
          </a:xfrm>
          <a:prstGeom prst="rect">
            <a:avLst/>
          </a:prstGeom>
        </p:spPr>
        <p:txBody>
          <a:bodyPr anchorCtr="0" anchor="ctr" bIns="0" lIns="13715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rgbClr val="000000"/>
                </a:solidFill>
              </a:rPr>
              <a:t>Importância dos Atributos — Detectando Vazamento de Dados</a:t>
            </a:r>
            <a:endParaRPr/>
          </a:p>
        </p:txBody>
      </p:sp>
      <p:pic>
        <p:nvPicPr>
          <p:cNvPr id="87" name="Picture 86" descr="fig_importancia_tecnic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000" y="1798611"/>
            <a:ext cx="5328000" cy="1910776"/>
          </a:xfrm>
          <a:prstGeom prst="rect">
            <a:avLst/>
          </a:prstGeom>
        </p:spPr>
      </p:pic>
      <p:sp>
        <p:nvSpPr>
          <p:cNvPr id="88" name="TextBox 87"/>
          <p:cNvSpPr txBox="1"/>
          <p:nvPr/>
        </p:nvSpPr>
        <p:spPr>
          <a:xfrm>
            <a:off x="5616000" y="503999"/>
            <a:ext cx="3384000" cy="4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4285F4"/>
                </a:solidFill>
              </a:rPr>
              <a:t>O que é vazamento de dados (leakage)?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700">
                <a:solidFill>
                  <a:srgbClr val="A4C2F4"/>
                </a:solidFill>
              </a:rPr>
              <a:t>────────────────────────────────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950">
                <a:solidFill>
                  <a:srgbClr val="212121"/>
                </a:solidFill>
              </a:rPr>
              <a:t>   • A máscara de referência foi criada usando dNBR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950">
                <a:solidFill>
                  <a:srgbClr val="212121"/>
                </a:solidFill>
              </a:rPr>
              <a:t>   • Se o modelo aprende com dNBR → aprende a própria resposta</a:t>
            </a:r>
          </a:p>
          <a:p>
            <a:pPr algn="l" lvl="1">
              <a:spcBef>
                <a:spcPts val="300"/>
              </a:spcBef>
              <a:spcAft>
                <a:spcPts val="100"/>
              </a:spcAft>
            </a:pPr>
            <a:r>
              <a:rPr sz="950">
                <a:solidFill>
                  <a:srgbClr val="212121"/>
                </a:solidFill>
              </a:rPr>
              <a:t>      ◦ Seria como dar o gabarito durante a prova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950">
                <a:solidFill>
                  <a:srgbClr val="212121"/>
                </a:solidFill>
              </a:rPr>
              <a:t>   • Como detectamos o problema:</a:t>
            </a:r>
          </a:p>
          <a:p>
            <a:pPr algn="l" lvl="1">
              <a:spcBef>
                <a:spcPts val="300"/>
              </a:spcBef>
              <a:spcAft>
                <a:spcPts val="100"/>
              </a:spcAft>
            </a:pPr>
            <a:r>
              <a:rPr sz="950">
                <a:solidFill>
                  <a:srgbClr val="212121"/>
                </a:solidFill>
              </a:rPr>
              <a:t>      ◦ Com dNBR na entrada: importância &gt; 60% nele</a:t>
            </a:r>
          </a:p>
          <a:p>
            <a:pPr algn="l" lvl="1">
              <a:spcBef>
                <a:spcPts val="300"/>
              </a:spcBef>
              <a:spcAft>
                <a:spcPts val="100"/>
              </a:spcAft>
            </a:pPr>
            <a:r>
              <a:rPr sz="950">
                <a:solidFill>
                  <a:srgbClr val="212121"/>
                </a:solidFill>
              </a:rPr>
              <a:t>      ◦ F₁ = 1.000 (resultado perfeito = sinal de problema)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950">
                <a:solidFill>
                  <a:srgbClr val="212121"/>
                </a:solidFill>
              </a:rPr>
              <a:t>   • Correção: removemos dNBR e dNDVI da entrada</a:t>
            </a:r>
          </a:p>
          <a:p>
            <a:pPr algn="l" lvl="1">
              <a:spcBef>
                <a:spcPts val="300"/>
              </a:spcBef>
              <a:spcAft>
                <a:spcPts val="100"/>
              </a:spcAft>
            </a:pPr>
            <a:r>
              <a:rPr sz="950">
                <a:solidFill>
                  <a:srgbClr val="212121"/>
                </a:solidFill>
              </a:rPr>
              <a:t>      ◦ F₁ caiu de 1.0 para 0.03–0.41 (resultado real)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950">
                <a:solidFill>
                  <a:srgbClr val="212121"/>
                </a:solidFill>
              </a:rPr>
              <a:t>   • O gráfico após a correção mostra:</a:t>
            </a:r>
          </a:p>
          <a:p>
            <a:pPr algn="l" lvl="1">
              <a:spcBef>
                <a:spcPts val="300"/>
              </a:spcBef>
              <a:spcAft>
                <a:spcPts val="100"/>
              </a:spcAft>
            </a:pPr>
            <a:r>
              <a:rPr sz="950">
                <a:solidFill>
                  <a:srgbClr val="212121"/>
                </a:solidFill>
              </a:rPr>
              <a:t>      ◦ Todos os 10 atributos com importância similar</a:t>
            </a:r>
          </a:p>
          <a:p>
            <a:pPr algn="l" lvl="1">
              <a:spcBef>
                <a:spcPts val="300"/>
              </a:spcBef>
              <a:spcAft>
                <a:spcPts val="100"/>
              </a:spcAft>
            </a:pPr>
            <a:r>
              <a:rPr sz="950">
                <a:solidFill>
                  <a:srgbClr val="212121"/>
                </a:solidFill>
              </a:rPr>
              <a:t>      ◦ Nenhum domina sozinho</a:t>
            </a:r>
          </a:p>
          <a:p>
            <a:pPr algn="l" lvl="1">
              <a:spcBef>
                <a:spcPts val="300"/>
              </a:spcBef>
              <a:spcAft>
                <a:spcPts val="100"/>
              </a:spcAft>
            </a:pPr>
            <a:r>
              <a:rPr sz="950">
                <a:solidFill>
                  <a:srgbClr val="212121"/>
                </a:solidFill>
              </a:rPr>
              <a:t>      ◦ Isso confirma que não há mais vazamento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950">
                <a:solidFill>
                  <a:srgbClr val="212121"/>
                </a:solidFill>
              </a:rPr>
              <a:t>   • Conclusão: o modelo agora aprende de verdade</a:t>
            </a:r>
          </a:p>
          <a:p>
            <a:pPr algn="l" lvl="1">
              <a:spcBef>
                <a:spcPts val="300"/>
              </a:spcBef>
              <a:spcAft>
                <a:spcPts val="100"/>
              </a:spcAft>
            </a:pPr>
            <a:r>
              <a:rPr sz="950">
                <a:solidFill>
                  <a:srgbClr val="212121"/>
                </a:solidFill>
              </a:rPr>
              <a:t>      ◦ sem usar a resposta como entrada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6"/>
          <p:cNvSpPr txBox="1"/>
          <p:nvPr>
            <p:ph type="title"/>
          </p:nvPr>
        </p:nvSpPr>
        <p:spPr>
          <a:xfrm>
            <a:off x="311700" y="64025"/>
            <a:ext cx="916200" cy="393600"/>
          </a:xfrm>
          <a:prstGeom prst="rect">
            <a:avLst/>
          </a:prstGeom>
        </p:spPr>
        <p:txBody>
          <a:bodyPr anchorCtr="0" anchor="ctr" bIns="0" lIns="13715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rgbClr val="000000"/>
                </a:solidFill>
              </a:rPr>
              <a:t>Ajustando o Modelo — Busca de Hiperparâmetros</a:t>
            </a:r>
            <a:endParaRPr/>
          </a:p>
        </p:txBody>
      </p:sp>
      <p:pic>
        <p:nvPicPr>
          <p:cNvPr id="93" name="Picture 92" descr="fig_hyperop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000" y="1802338"/>
            <a:ext cx="5328000" cy="1903323"/>
          </a:xfrm>
          <a:prstGeom prst="rect">
            <a:avLst/>
          </a:prstGeom>
        </p:spPr>
      </p:pic>
      <p:sp>
        <p:nvSpPr>
          <p:cNvPr id="94" name="TextBox 93"/>
          <p:cNvSpPr txBox="1"/>
          <p:nvPr/>
        </p:nvSpPr>
        <p:spPr>
          <a:xfrm>
            <a:off x="5616000" y="503999"/>
            <a:ext cx="3384000" cy="4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4285F4"/>
                </a:solidFill>
              </a:rPr>
              <a:t>O que são hiperparâmetros?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700">
                <a:solidFill>
                  <a:srgbClr val="A4C2F4"/>
                </a:solidFill>
              </a:rPr>
              <a:t>────────────────────────────────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950">
                <a:solidFill>
                  <a:srgbClr val="212121"/>
                </a:solidFill>
              </a:rPr>
              <a:t>   • São as configurações que definem como o RF se comporta:</a:t>
            </a:r>
          </a:p>
          <a:p>
            <a:pPr algn="l" lvl="1">
              <a:spcBef>
                <a:spcPts val="300"/>
              </a:spcBef>
              <a:spcAft>
                <a:spcPts val="100"/>
              </a:spcAft>
            </a:pPr>
            <a:r>
              <a:rPr sz="950">
                <a:solidFill>
                  <a:srgbClr val="212121"/>
                </a:solidFill>
              </a:rPr>
              <a:t>      ◦ Quantas árvores criar (mais = mais estável)</a:t>
            </a:r>
          </a:p>
          <a:p>
            <a:pPr algn="l" lvl="1">
              <a:spcBef>
                <a:spcPts val="300"/>
              </a:spcBef>
              <a:spcAft>
                <a:spcPts val="100"/>
              </a:spcAft>
            </a:pPr>
            <a:r>
              <a:rPr sz="950">
                <a:solidFill>
                  <a:srgbClr val="212121"/>
                </a:solidFill>
              </a:rPr>
              <a:t>      ◦ Quão funda cada árvore pode crescer</a:t>
            </a:r>
          </a:p>
          <a:p>
            <a:pPr algn="l" lvl="1">
              <a:spcBef>
                <a:spcPts val="300"/>
              </a:spcBef>
              <a:spcAft>
                <a:spcPts val="100"/>
              </a:spcAft>
            </a:pPr>
            <a:r>
              <a:rPr sz="950">
                <a:solidFill>
                  <a:srgbClr val="212121"/>
                </a:solidFill>
              </a:rPr>
              <a:t>      ◦ Quantos atributos testar em cada divisão</a:t>
            </a:r>
          </a:p>
          <a:p>
            <a:pPr algn="l" lvl="1">
              <a:spcBef>
                <a:spcPts val="300"/>
              </a:spcBef>
              <a:spcAft>
                <a:spcPts val="100"/>
              </a:spcAft>
            </a:pPr>
            <a:r>
              <a:rPr sz="950">
                <a:solidFill>
                  <a:srgbClr val="212121"/>
                </a:solidFill>
              </a:rPr>
              <a:t>      ◦ Mínimo de pixels para criar uma folha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950">
                <a:solidFill>
                  <a:srgbClr val="212121"/>
                </a:solidFill>
              </a:rPr>
              <a:t>   • Como buscamos os melhores valores:</a:t>
            </a:r>
          </a:p>
          <a:p>
            <a:pPr algn="l" lvl="1">
              <a:spcBef>
                <a:spcPts val="300"/>
              </a:spcBef>
              <a:spcAft>
                <a:spcPts val="100"/>
              </a:spcAft>
            </a:pPr>
            <a:r>
              <a:rPr sz="950">
                <a:solidFill>
                  <a:srgbClr val="212121"/>
                </a:solidFill>
              </a:rPr>
              <a:t>      ◦ Testamos 30 combinações escolhidas ao acaso</a:t>
            </a:r>
          </a:p>
          <a:p>
            <a:pPr algn="l" lvl="1">
              <a:spcBef>
                <a:spcPts val="300"/>
              </a:spcBef>
              <a:spcAft>
                <a:spcPts val="100"/>
              </a:spcAft>
            </a:pPr>
            <a:r>
              <a:rPr sz="950">
                <a:solidFill>
                  <a:srgbClr val="212121"/>
                </a:solidFill>
              </a:rPr>
              <a:t>      ◦ Cada combinação avaliada com validação cruzada</a:t>
            </a:r>
          </a:p>
          <a:p>
            <a:pPr algn="l" lvl="1">
              <a:spcBef>
                <a:spcPts val="300"/>
              </a:spcBef>
              <a:spcAft>
                <a:spcPts val="100"/>
              </a:spcAft>
            </a:pPr>
            <a:r>
              <a:rPr sz="950">
                <a:solidFill>
                  <a:srgbClr val="212121"/>
                </a:solidFill>
              </a:rPr>
              <a:t>      ◦ (a imagem é dividida 5 vezes para testar)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950">
                <a:solidFill>
                  <a:srgbClr val="212121"/>
                </a:solidFill>
              </a:rPr>
              <a:t>   • Mais eficiente que testar todas (seriam 864)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950">
                <a:solidFill>
                  <a:srgbClr val="212121"/>
                </a:solidFill>
              </a:rPr>
              <a:t>   • Melhor configuração encontrada:</a:t>
            </a:r>
          </a:p>
          <a:p>
            <a:pPr algn="l" lvl="1">
              <a:spcBef>
                <a:spcPts val="300"/>
              </a:spcBef>
              <a:spcAft>
                <a:spcPts val="100"/>
              </a:spcAft>
            </a:pPr>
            <a:r>
              <a:rPr sz="950">
                <a:solidFill>
                  <a:srgbClr val="212121"/>
                </a:solidFill>
              </a:rPr>
              <a:t>      ◦ 171 árvores, profundidade máxima 30</a:t>
            </a:r>
          </a:p>
          <a:p>
            <a:pPr algn="l" lvl="1">
              <a:spcBef>
                <a:spcPts val="300"/>
              </a:spcBef>
              <a:spcAft>
                <a:spcPts val="100"/>
              </a:spcAft>
            </a:pPr>
            <a:r>
              <a:rPr sz="950">
                <a:solidFill>
                  <a:srgbClr val="212121"/>
                </a:solidFill>
              </a:rPr>
              <a:t>      ◦ Mínimo de 11 pixels por folha</a:t>
            </a:r>
          </a:p>
          <a:p>
            <a:pPr algn="l" lvl="1">
              <a:spcBef>
                <a:spcPts val="300"/>
              </a:spcBef>
              <a:spcAft>
                <a:spcPts val="100"/>
              </a:spcAft>
            </a:pPr>
            <a:r>
              <a:rPr sz="950">
                <a:solidFill>
                  <a:srgbClr val="212121"/>
                </a:solidFill>
              </a:rPr>
              <a:t>      ◦ Peso ajustado para compensar desbalanceamento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7"/>
          <p:cNvSpPr txBox="1"/>
          <p:nvPr>
            <p:ph type="title"/>
          </p:nvPr>
        </p:nvSpPr>
        <p:spPr>
          <a:xfrm>
            <a:off x="311700" y="64025"/>
            <a:ext cx="951000" cy="393600"/>
          </a:xfrm>
          <a:prstGeom prst="rect">
            <a:avLst/>
          </a:prstGeom>
        </p:spPr>
        <p:txBody>
          <a:bodyPr anchorCtr="0" anchor="ctr" bIns="0" lIns="13715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rgbClr val="000000"/>
                </a:solidFill>
              </a:rPr>
              <a:t>Cenas Landsat — Área de Estudo (São Paulo, Agosto 2024)</a:t>
            </a:r>
            <a:endParaRPr/>
          </a:p>
        </p:txBody>
      </p:sp>
      <p:pic>
        <p:nvPicPr>
          <p:cNvPr id="99" name="Picture 98" descr="fig_cena_22107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4000" y="2038219"/>
            <a:ext cx="4356000" cy="1427960"/>
          </a:xfrm>
          <a:prstGeom prst="rect">
            <a:avLst/>
          </a:prstGeom>
        </p:spPr>
      </p:pic>
      <p:pic>
        <p:nvPicPr>
          <p:cNvPr id="100" name="Picture 99" descr="fig_cena_22007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44000" y="2038692"/>
            <a:ext cx="4356000" cy="1427015"/>
          </a:xfrm>
          <a:prstGeom prst="rect">
            <a:avLst/>
          </a:prstGeom>
        </p:spPr>
      </p:pic>
      <p:sp>
        <p:nvSpPr>
          <p:cNvPr id="101" name="TextBox 100"/>
          <p:cNvSpPr txBox="1"/>
          <p:nvPr/>
        </p:nvSpPr>
        <p:spPr>
          <a:xfrm>
            <a:off x="144000" y="4031999"/>
            <a:ext cx="8856000" cy="100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>
                <a:solidFill>
                  <a:srgbClr val="212121"/>
                </a:solidFill>
              </a:rPr>
              <a:t>•  Cena da esquerda (221/074): usada para treinar e avaliar o modelo por blocos espaciais — 4,8% de pixels queimados</a:t>
            </a:r>
          </a:p>
          <a:p>
            <a:pPr algn="l"/>
            <a:r>
              <a:rPr sz="850">
                <a:solidFill>
                  <a:srgbClr val="212121"/>
                </a:solidFill>
              </a:rPr>
              <a:t>•  Cena da direita (220/075): usada só para teste final em uma área nunca vista pelo modelo — 7,9% de pixels queimados</a:t>
            </a:r>
          </a:p>
          <a:p>
            <a:pPr algn="l"/>
            <a:r>
              <a:rPr sz="850">
                <a:solidFill>
                  <a:srgbClr val="212121"/>
                </a:solidFill>
              </a:rPr>
              <a:t>•  Cada imagem mostra: composição colorida (esq.) · índice dNBR (centro) · máscara de referência (dir.)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8"/>
          <p:cNvSpPr txBox="1"/>
          <p:nvPr>
            <p:ph type="title"/>
          </p:nvPr>
        </p:nvSpPr>
        <p:spPr>
          <a:xfrm>
            <a:off x="311700" y="64025"/>
            <a:ext cx="916200" cy="393600"/>
          </a:xfrm>
          <a:prstGeom prst="rect">
            <a:avLst/>
          </a:prstGeom>
        </p:spPr>
        <p:txBody>
          <a:bodyPr anchorCtr="0" anchor="ctr" bIns="0" lIns="13715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rgbClr val="000000"/>
                </a:solidFill>
              </a:rPr>
              <a:t>Resultados Reais — Qual Estratégia Funcionou Melhor?</a:t>
            </a:r>
            <a:endParaRPr/>
          </a:p>
        </p:txBody>
      </p:sp>
      <p:pic>
        <p:nvPicPr>
          <p:cNvPr id="106" name="Picture 105" descr="fig_estrategias_com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000" y="1703484"/>
            <a:ext cx="5328000" cy="2101031"/>
          </a:xfrm>
          <a:prstGeom prst="rect">
            <a:avLst/>
          </a:prstGeom>
        </p:spPr>
      </p:pic>
      <p:sp>
        <p:nvSpPr>
          <p:cNvPr id="107" name="TextBox 106"/>
          <p:cNvSpPr txBox="1"/>
          <p:nvPr/>
        </p:nvSpPr>
        <p:spPr>
          <a:xfrm>
            <a:off x="5616000" y="503999"/>
            <a:ext cx="3384000" cy="4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4285F4"/>
                </a:solidFill>
              </a:rPr>
              <a:t>Comparando as estratégias nos dados reais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700">
                <a:solidFill>
                  <a:srgbClr val="A4C2F4"/>
                </a:solidFill>
              </a:rPr>
              <a:t>────────────────────────────────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950">
                <a:solidFill>
                  <a:srgbClr val="212121"/>
                </a:solidFill>
              </a:rPr>
              <a:t>   • Sem nenhum tratamento:</a:t>
            </a:r>
          </a:p>
          <a:p>
            <a:pPr algn="l" lvl="1">
              <a:spcBef>
                <a:spcPts val="300"/>
              </a:spcBef>
              <a:spcAft>
                <a:spcPts val="100"/>
              </a:spcAft>
            </a:pPr>
            <a:r>
              <a:rPr sz="950">
                <a:solidFill>
                  <a:srgbClr val="212121"/>
                </a:solidFill>
              </a:rPr>
              <a:t>      ◦ Detectou apenas 1,7% das queimadas — inaceitável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950">
                <a:solidFill>
                  <a:srgbClr val="212121"/>
                </a:solidFill>
              </a:rPr>
              <a:t>   • class_weight (padrão):</a:t>
            </a:r>
          </a:p>
          <a:p>
            <a:pPr algn="l" lvl="1">
              <a:spcBef>
                <a:spcPts val="300"/>
              </a:spcBef>
              <a:spcAft>
                <a:spcPts val="100"/>
              </a:spcAft>
            </a:pPr>
            <a:r>
              <a:rPr sz="950">
                <a:solidFill>
                  <a:srgbClr val="212121"/>
                </a:solidFill>
              </a:rPr>
              <a:t>      ◦ Também ruim com o limiar padrão de 50%</a:t>
            </a:r>
          </a:p>
          <a:p>
            <a:pPr algn="l" lvl="1">
              <a:spcBef>
                <a:spcPts val="300"/>
              </a:spcBef>
              <a:spcAft>
                <a:spcPts val="100"/>
              </a:spcAft>
            </a:pPr>
            <a:r>
              <a:rPr sz="950">
                <a:solidFill>
                  <a:srgbClr val="212121"/>
                </a:solidFill>
              </a:rPr>
              <a:t>      ◦ Melhorou bastante ao ajustar o limiar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950">
                <a:solidFill>
                  <a:srgbClr val="212121"/>
                </a:solidFill>
              </a:rPr>
              <a:t>   • SMOTE e SMOTETomek:</a:t>
            </a:r>
          </a:p>
          <a:p>
            <a:pPr algn="l" lvl="1">
              <a:spcBef>
                <a:spcPts val="300"/>
              </a:spcBef>
              <a:spcAft>
                <a:spcPts val="100"/>
              </a:spcAft>
            </a:pPr>
            <a:r>
              <a:rPr sz="950">
                <a:solidFill>
                  <a:srgbClr val="212121"/>
                </a:solidFill>
              </a:rPr>
              <a:t>      ◦ Desempenho parecido entre os dois</a:t>
            </a:r>
          </a:p>
          <a:p>
            <a:pPr algn="l" lvl="1">
              <a:spcBef>
                <a:spcPts val="300"/>
              </a:spcBef>
              <a:spcAft>
                <a:spcPts val="100"/>
              </a:spcAft>
            </a:pPr>
            <a:r>
              <a:rPr sz="950">
                <a:solidFill>
                  <a:srgbClr val="212121"/>
                </a:solidFill>
              </a:rPr>
              <a:t>      ◦ Criação de pixels sintéticos não ajudou muito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950">
                <a:solidFill>
                  <a:srgbClr val="212121"/>
                </a:solidFill>
              </a:rPr>
              <a:t>   • Undersampling:</a:t>
            </a:r>
          </a:p>
          <a:p>
            <a:pPr algn="l" lvl="1">
              <a:spcBef>
                <a:spcPts val="300"/>
              </a:spcBef>
              <a:spcAft>
                <a:spcPts val="100"/>
              </a:spcAft>
            </a:pPr>
            <a:r>
              <a:rPr sz="950">
                <a:solidFill>
                  <a:srgbClr val="212121"/>
                </a:solidFill>
              </a:rPr>
              <a:t>      ◦ Maior Recall, porém menor F₁ entre as estratégias</a:t>
            </a:r>
          </a:p>
          <a:p>
            <a:pPr algn="l" lvl="1">
              <a:spcBef>
                <a:spcPts val="300"/>
              </a:spcBef>
              <a:spcAft>
                <a:spcPts val="100"/>
              </a:spcAft>
            </a:pPr>
            <a:r>
              <a:rPr sz="950">
                <a:solidFill>
                  <a:srgbClr val="212121"/>
                </a:solidFill>
              </a:rPr>
              <a:t>      ◦ Treinou com dados balanceados (igual de cada classe)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950">
                <a:solidFill>
                  <a:srgbClr val="212121"/>
                </a:solidFill>
              </a:rPr>
              <a:t>   • Ajuste do limiar de decisão (τ*):</a:t>
            </a:r>
          </a:p>
          <a:p>
            <a:pPr algn="l" lvl="1">
              <a:spcBef>
                <a:spcPts val="300"/>
              </a:spcBef>
              <a:spcAft>
                <a:spcPts val="100"/>
              </a:spcAft>
            </a:pPr>
            <a:r>
              <a:rPr sz="950">
                <a:solidFill>
                  <a:srgbClr val="212121"/>
                </a:solidFill>
              </a:rPr>
              <a:t>      ◦ Melhorou o resultado de todos os métodos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950">
                <a:solidFill>
                  <a:srgbClr val="212121"/>
                </a:solidFill>
              </a:rPr>
              <a:t>   • Estratégia final: class_weight + τ* (F₁=0.262)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9"/>
          <p:cNvSpPr txBox="1"/>
          <p:nvPr>
            <p:ph type="title"/>
          </p:nvPr>
        </p:nvSpPr>
        <p:spPr>
          <a:xfrm>
            <a:off x="311700" y="64025"/>
            <a:ext cx="951000" cy="393600"/>
          </a:xfrm>
          <a:prstGeom prst="rect">
            <a:avLst/>
          </a:prstGeom>
        </p:spPr>
        <p:txBody>
          <a:bodyPr anchorCtr="0" anchor="ctr" bIns="0" lIns="13715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rgbClr val="000000"/>
                </a:solidFill>
              </a:rPr>
              <a:t>Comparação Visual das Estratégias</a:t>
            </a:r>
            <a:endParaRPr/>
          </a:p>
        </p:txBody>
      </p:sp>
      <p:pic>
        <p:nvPicPr>
          <p:cNvPr id="112" name="Picture 111" descr="fig_estrategias_sim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4000" y="1798026"/>
            <a:ext cx="5328000" cy="1911946"/>
          </a:xfrm>
          <a:prstGeom prst="rect">
            <a:avLst/>
          </a:prstGeom>
        </p:spPr>
      </p:pic>
      <p:sp>
        <p:nvSpPr>
          <p:cNvPr id="113" name="TextBox 112"/>
          <p:cNvSpPr txBox="1"/>
          <p:nvPr/>
        </p:nvSpPr>
        <p:spPr>
          <a:xfrm>
            <a:off x="5616000" y="503999"/>
            <a:ext cx="3384000" cy="4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4285F4"/>
                </a:solidFill>
              </a:rPr>
              <a:t>Lendo o gráfico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700">
                <a:solidFill>
                  <a:srgbClr val="A4C2F4"/>
                </a:solidFill>
              </a:rPr>
              <a:t>────────────────────────────────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950">
                <a:solidFill>
                  <a:srgbClr val="212121"/>
                </a:solidFill>
              </a:rPr>
              <a:t>   • Cada grupo de barras representa uma métrica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950">
                <a:solidFill>
                  <a:srgbClr val="212121"/>
                </a:solidFill>
              </a:rPr>
              <a:t>   • Cada cor representa uma estratégia de balanceamento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950">
                <a:solidFill>
                  <a:srgbClr val="212121"/>
                </a:solidFill>
              </a:rPr>
              <a:t>   • O que podemos observar: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950">
                <a:solidFill>
                  <a:srgbClr val="212121"/>
                </a:solidFill>
              </a:rPr>
              <a:t>   • Undersampling (laranja):</a:t>
            </a:r>
          </a:p>
          <a:p>
            <a:pPr algn="l" lvl="1">
              <a:spcBef>
                <a:spcPts val="300"/>
              </a:spcBef>
              <a:spcAft>
                <a:spcPts val="100"/>
              </a:spcAft>
            </a:pPr>
            <a:r>
              <a:rPr sz="950">
                <a:solidFill>
                  <a:srgbClr val="212121"/>
                </a:solidFill>
              </a:rPr>
              <a:t>      ◦ Maior Recall, mas F₁ mais baixo que class_weight+τ*</a:t>
            </a:r>
          </a:p>
          <a:p>
            <a:pPr algn="l" lvl="1">
              <a:spcBef>
                <a:spcPts val="300"/>
              </a:spcBef>
              <a:spcAft>
                <a:spcPts val="100"/>
              </a:spcAft>
            </a:pPr>
            <a:r>
              <a:rPr sz="950">
                <a:solidFill>
                  <a:srgbClr val="212121"/>
                </a:solidFill>
              </a:rPr>
              <a:t>      ◦ Encontra mais queimadas, mas erra mais em não-queimadas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950">
                <a:solidFill>
                  <a:srgbClr val="212121"/>
                </a:solidFill>
              </a:rPr>
              <a:t>   • class_weight (azul):</a:t>
            </a:r>
          </a:p>
          <a:p>
            <a:pPr algn="l" lvl="1">
              <a:spcBef>
                <a:spcPts val="300"/>
              </a:spcBef>
              <a:spcAft>
                <a:spcPts val="100"/>
              </a:spcAft>
            </a:pPr>
            <a:r>
              <a:rPr sz="950">
                <a:solidFill>
                  <a:srgbClr val="212121"/>
                </a:solidFill>
              </a:rPr>
              <a:t>      ◦ Melhor equilíbrio Precision/Recall — maior F₁ geral</a:t>
            </a:r>
          </a:p>
          <a:p>
            <a:pPr algn="l" lvl="1">
              <a:spcBef>
                <a:spcPts val="300"/>
              </a:spcBef>
              <a:spcAft>
                <a:spcPts val="100"/>
              </a:spcAft>
            </a:pPr>
            <a:r>
              <a:rPr sz="950">
                <a:solidFill>
                  <a:srgbClr val="212121"/>
                </a:solidFill>
              </a:rPr>
              <a:t>      ◦ Com ajuste de limiar supera as demais estratégias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950">
                <a:solidFill>
                  <a:srgbClr val="212121"/>
                </a:solidFill>
              </a:rPr>
              <a:t>   • SMOTE e SMOTETomek:</a:t>
            </a:r>
          </a:p>
          <a:p>
            <a:pPr algn="l" lvl="1">
              <a:spcBef>
                <a:spcPts val="300"/>
              </a:spcBef>
              <a:spcAft>
                <a:spcPts val="100"/>
              </a:spcAft>
            </a:pPr>
            <a:r>
              <a:rPr sz="950">
                <a:solidFill>
                  <a:srgbClr val="212121"/>
                </a:solidFill>
              </a:rPr>
              <a:t>      ◦ Resultado muito parecido entre os dois</a:t>
            </a:r>
          </a:p>
          <a:p>
            <a:pPr algn="l" lvl="1">
              <a:spcBef>
                <a:spcPts val="300"/>
              </a:spcBef>
              <a:spcAft>
                <a:spcPts val="100"/>
              </a:spcAft>
            </a:pPr>
            <a:r>
              <a:rPr sz="950">
                <a:solidFill>
                  <a:srgbClr val="212121"/>
                </a:solidFill>
              </a:rPr>
              <a:t>      ◦ Geralmente abaixo do undersampling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950">
                <a:solidFill>
                  <a:srgbClr val="212121"/>
                </a:solidFill>
              </a:rPr>
              <a:t>   • Sem tratamento (cinza):</a:t>
            </a:r>
          </a:p>
          <a:p>
            <a:pPr algn="l" lvl="1">
              <a:spcBef>
                <a:spcPts val="300"/>
              </a:spcBef>
              <a:spcAft>
                <a:spcPts val="100"/>
              </a:spcAft>
            </a:pPr>
            <a:r>
              <a:rPr sz="950">
                <a:solidFill>
                  <a:srgbClr val="212121"/>
                </a:solidFill>
              </a:rPr>
              <a:t>      ◦ Praticamente não detecta queimadas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950">
                <a:solidFill>
                  <a:srgbClr val="212121"/>
                </a:solidFill>
              </a:rPr>
              <a:t>   • Conclusão: não existe solução perfeita — há tradeoff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0"/>
          <p:cNvSpPr txBox="1"/>
          <p:nvPr>
            <p:ph type="title"/>
          </p:nvPr>
        </p:nvSpPr>
        <p:spPr>
          <a:xfrm>
            <a:off x="311700" y="64025"/>
            <a:ext cx="2822100" cy="393600"/>
          </a:xfrm>
          <a:prstGeom prst="rect">
            <a:avLst/>
          </a:prstGeom>
        </p:spPr>
        <p:txBody>
          <a:bodyPr anchorCtr="0" anchor="ctr" bIns="0" lIns="13715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rgbClr val="000000"/>
                </a:solidFill>
              </a:rPr>
              <a:t>Quais Atributos Mais Importaram para o RF?</a:t>
            </a:r>
            <a:endParaRPr/>
          </a:p>
        </p:txBody>
      </p:sp>
      <p:pic>
        <p:nvPicPr>
          <p:cNvPr id="119" name="Picture 118" descr="fig_importanci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4000" y="1703484"/>
            <a:ext cx="5328000" cy="2101031"/>
          </a:xfrm>
          <a:prstGeom prst="rect">
            <a:avLst/>
          </a:prstGeom>
        </p:spPr>
      </p:pic>
      <p:sp>
        <p:nvSpPr>
          <p:cNvPr id="120" name="TextBox 119"/>
          <p:cNvSpPr txBox="1"/>
          <p:nvPr/>
        </p:nvSpPr>
        <p:spPr>
          <a:xfrm>
            <a:off x="5616000" y="503999"/>
            <a:ext cx="3384000" cy="4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4285F4"/>
                </a:solidFill>
              </a:rPr>
              <a:t>Lendo o gráfico de importância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700">
                <a:solidFill>
                  <a:srgbClr val="A4C2F4"/>
                </a:solidFill>
              </a:rPr>
              <a:t>────────────────────────────────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950">
                <a:solidFill>
                  <a:srgbClr val="212121"/>
                </a:solidFill>
              </a:rPr>
              <a:t>   • Cada barra mostra o quanto aquele atributo</a:t>
            </a:r>
          </a:p>
          <a:p>
            <a:pPr algn="l" lvl="1">
              <a:spcBef>
                <a:spcPts val="300"/>
              </a:spcBef>
              <a:spcAft>
                <a:spcPts val="100"/>
              </a:spcAft>
            </a:pPr>
            <a:r>
              <a:rPr sz="950">
                <a:solidFill>
                  <a:srgbClr val="212121"/>
                </a:solidFill>
              </a:rPr>
              <a:t>      ◦ contribuiu para as decisões do modelo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950">
                <a:solidFill>
                  <a:srgbClr val="212121"/>
                </a:solidFill>
              </a:rPr>
              <a:t>   • Distribuição equilibrada: ~8–11% por atributo</a:t>
            </a:r>
          </a:p>
          <a:p>
            <a:pPr algn="l" lvl="1">
              <a:spcBef>
                <a:spcPts val="300"/>
              </a:spcBef>
              <a:spcAft>
                <a:spcPts val="100"/>
              </a:spcAft>
            </a:pPr>
            <a:r>
              <a:rPr sz="950">
                <a:solidFill>
                  <a:srgbClr val="212121"/>
                </a:solidFill>
              </a:rPr>
              <a:t>      ◦ Nenhum atributo domina sozinho</a:t>
            </a:r>
          </a:p>
          <a:p>
            <a:pPr algn="l" lvl="1">
              <a:spcBef>
                <a:spcPts val="300"/>
              </a:spcBef>
              <a:spcAft>
                <a:spcPts val="100"/>
              </a:spcAft>
            </a:pPr>
            <a:r>
              <a:rPr sz="950">
                <a:solidFill>
                  <a:srgbClr val="212121"/>
                </a:solidFill>
              </a:rPr>
              <a:t>      ◦ Todos os 10 contribuem de forma parecida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950">
                <a:solidFill>
                  <a:srgbClr val="212121"/>
                </a:solidFill>
              </a:rPr>
              <a:t>   • Isso confirma que não há vazamento de dados</a:t>
            </a:r>
          </a:p>
          <a:p>
            <a:pPr algn="l" lvl="1">
              <a:spcBef>
                <a:spcPts val="300"/>
              </a:spcBef>
              <a:spcAft>
                <a:spcPts val="100"/>
              </a:spcAft>
            </a:pPr>
            <a:r>
              <a:rPr sz="950">
                <a:solidFill>
                  <a:srgbClr val="212121"/>
                </a:solidFill>
              </a:rPr>
              <a:t>      ◦ Se dNBR estivesse presente: barra &gt; 60%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950">
                <a:solidFill>
                  <a:srgbClr val="212121"/>
                </a:solidFill>
              </a:rPr>
              <a:t>   • Destaque leve para pre_ndvi (11,5%):</a:t>
            </a:r>
          </a:p>
          <a:p>
            <a:pPr algn="l" lvl="1">
              <a:spcBef>
                <a:spcPts val="300"/>
              </a:spcBef>
              <a:spcAft>
                <a:spcPts val="100"/>
              </a:spcAft>
            </a:pPr>
            <a:r>
              <a:rPr sz="950">
                <a:solidFill>
                  <a:srgbClr val="212121"/>
                </a:solidFill>
              </a:rPr>
              <a:t>      ◦ Vegetação antes do fogo ajuda a identificar a mudança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950">
                <a:solidFill>
                  <a:srgbClr val="212121"/>
                </a:solidFill>
              </a:rPr>
              <a:t>   • Atributos antes e depois têm peso similar:</a:t>
            </a:r>
          </a:p>
          <a:p>
            <a:pPr algn="l" lvl="1">
              <a:spcBef>
                <a:spcPts val="300"/>
              </a:spcBef>
              <a:spcAft>
                <a:spcPts val="100"/>
              </a:spcAft>
            </a:pPr>
            <a:r>
              <a:rPr sz="950">
                <a:solidFill>
                  <a:srgbClr val="212121"/>
                </a:solidFill>
              </a:rPr>
              <a:t>      ◦ O modelo usa as duas imagens em conjunto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950">
                <a:solidFill>
                  <a:srgbClr val="212121"/>
                </a:solidFill>
              </a:rPr>
              <a:t>   • Interpretação geral:</a:t>
            </a:r>
          </a:p>
          <a:p>
            <a:pPr algn="l" lvl="1">
              <a:spcBef>
                <a:spcPts val="300"/>
              </a:spcBef>
              <a:spcAft>
                <a:spcPts val="100"/>
              </a:spcAft>
            </a:pPr>
            <a:r>
              <a:rPr sz="950">
                <a:solidFill>
                  <a:srgbClr val="212121"/>
                </a:solidFill>
              </a:rPr>
              <a:t>      ◦ Sem o dNBR a tarefa é difícil</a:t>
            </a:r>
          </a:p>
          <a:p>
            <a:pPr algn="l" lvl="1">
              <a:spcBef>
                <a:spcPts val="300"/>
              </a:spcBef>
              <a:spcAft>
                <a:spcPts val="100"/>
              </a:spcAft>
            </a:pPr>
            <a:r>
              <a:rPr sz="950">
                <a:solidFill>
                  <a:srgbClr val="212121"/>
                </a:solidFill>
              </a:rPr>
              <a:t>      ◦ O modelo distribui o esforço entre todos os atributos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1"/>
          <p:cNvSpPr txBox="1"/>
          <p:nvPr>
            <p:ph type="title"/>
          </p:nvPr>
        </p:nvSpPr>
        <p:spPr>
          <a:xfrm>
            <a:off x="311700" y="64025"/>
            <a:ext cx="2822100" cy="393600"/>
          </a:xfrm>
          <a:prstGeom prst="rect">
            <a:avLst/>
          </a:prstGeom>
        </p:spPr>
        <p:txBody>
          <a:bodyPr anchorCtr="0" anchor="ctr" bIns="0" lIns="13715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rgbClr val="000000"/>
                </a:solidFill>
              </a:rPr>
              <a:t>Resultado do Ajuste de Limiar — RF Otimizado</a:t>
            </a:r>
            <a:endParaRPr/>
          </a:p>
        </p:txBody>
      </p:sp>
      <p:pic>
        <p:nvPicPr>
          <p:cNvPr id="127" name="Picture 126" descr="fig_threshold_p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4000" y="1880190"/>
            <a:ext cx="5328000" cy="1747619"/>
          </a:xfrm>
          <a:prstGeom prst="rect">
            <a:avLst/>
          </a:prstGeom>
        </p:spPr>
      </p:pic>
      <p:sp>
        <p:nvSpPr>
          <p:cNvPr id="128" name="TextBox 127"/>
          <p:cNvSpPr txBox="1"/>
          <p:nvPr/>
        </p:nvSpPr>
        <p:spPr>
          <a:xfrm>
            <a:off x="5616000" y="503999"/>
            <a:ext cx="3384000" cy="4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4285F4"/>
                </a:solidFill>
              </a:rPr>
              <a:t>Antes e depois do ajuste do limiar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700">
                <a:solidFill>
                  <a:srgbClr val="A4C2F4"/>
                </a:solidFill>
              </a:rPr>
              <a:t>────────────────────────────────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950">
                <a:solidFill>
                  <a:srgbClr val="212121"/>
                </a:solidFill>
              </a:rPr>
              <a:t>   • Com limiar padrão (50%):</a:t>
            </a:r>
          </a:p>
          <a:p>
            <a:pPr algn="l" lvl="1">
              <a:spcBef>
                <a:spcPts val="300"/>
              </a:spcBef>
              <a:spcAft>
                <a:spcPts val="100"/>
              </a:spcAft>
            </a:pPr>
            <a:r>
              <a:rPr sz="950">
                <a:solidFill>
                  <a:srgbClr val="212121"/>
                </a:solidFill>
              </a:rPr>
              <a:t>      ◦ Detectou apenas 1,9% das queimadas</a:t>
            </a:r>
          </a:p>
          <a:p>
            <a:pPr algn="l" lvl="1">
              <a:spcBef>
                <a:spcPts val="300"/>
              </a:spcBef>
              <a:spcAft>
                <a:spcPts val="100"/>
              </a:spcAft>
            </a:pPr>
            <a:r>
              <a:rPr sz="950">
                <a:solidFill>
                  <a:srgbClr val="212121"/>
                </a:solidFill>
              </a:rPr>
              <a:t>      ◦ F₁ = 0.026 — praticamente inútil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950">
                <a:solidFill>
                  <a:srgbClr val="212121"/>
                </a:solidFill>
              </a:rPr>
              <a:t>   • Com limiar ajustado (65%):</a:t>
            </a:r>
          </a:p>
          <a:p>
            <a:pPr algn="l" lvl="1">
              <a:spcBef>
                <a:spcPts val="300"/>
              </a:spcBef>
              <a:spcAft>
                <a:spcPts val="100"/>
              </a:spcAft>
            </a:pPr>
            <a:r>
              <a:rPr sz="950">
                <a:solidFill>
                  <a:srgbClr val="212121"/>
                </a:solidFill>
              </a:rPr>
              <a:t>      ◦ Precision = 37,8% / Recall = 29,1%</a:t>
            </a:r>
          </a:p>
          <a:p>
            <a:pPr algn="l" lvl="1">
              <a:spcBef>
                <a:spcPts val="300"/>
              </a:spcBef>
              <a:spcAft>
                <a:spcPts val="100"/>
              </a:spcAft>
            </a:pPr>
            <a:r>
              <a:rPr sz="950">
                <a:solidFill>
                  <a:srgbClr val="212121"/>
                </a:solidFill>
              </a:rPr>
              <a:t>      ◦ F₁ = 0.329 — equilíbrio entre Precision e Recall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950">
                <a:solidFill>
                  <a:srgbClr val="212121"/>
                </a:solidFill>
              </a:rPr>
              <a:t>   • O gráfico mostra a curva Precision vs Recall:</a:t>
            </a:r>
          </a:p>
          <a:p>
            <a:pPr algn="l" lvl="1">
              <a:spcBef>
                <a:spcPts val="300"/>
              </a:spcBef>
              <a:spcAft>
                <a:spcPts val="100"/>
              </a:spcAft>
            </a:pPr>
            <a:r>
              <a:rPr sz="950">
                <a:solidFill>
                  <a:srgbClr val="212121"/>
                </a:solidFill>
              </a:rPr>
              <a:t>      ◦ Cada ponto = um limiar diferente</a:t>
            </a:r>
          </a:p>
          <a:p>
            <a:pPr algn="l" lvl="1">
              <a:spcBef>
                <a:spcPts val="300"/>
              </a:spcBef>
              <a:spcAft>
                <a:spcPts val="100"/>
              </a:spcAft>
            </a:pPr>
            <a:r>
              <a:rPr sz="950">
                <a:solidFill>
                  <a:srgbClr val="212121"/>
                </a:solidFill>
              </a:rPr>
              <a:t>      ◦ Limiar muito alto → poucos erros, poucas detecções</a:t>
            </a:r>
          </a:p>
          <a:p>
            <a:pPr algn="l" lvl="1">
              <a:spcBef>
                <a:spcPts val="300"/>
              </a:spcBef>
              <a:spcAft>
                <a:spcPts val="100"/>
              </a:spcAft>
            </a:pPr>
            <a:r>
              <a:rPr sz="950">
                <a:solidFill>
                  <a:srgbClr val="212121"/>
                </a:solidFill>
              </a:rPr>
              <a:t>      ◦ Limiar muito baixo → muitas detecções, mais erros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950">
                <a:solidFill>
                  <a:srgbClr val="212121"/>
                </a:solidFill>
              </a:rPr>
              <a:t>   • Resultado na segunda cena (nunca vista):</a:t>
            </a:r>
          </a:p>
          <a:p>
            <a:pPr algn="l" lvl="1">
              <a:spcBef>
                <a:spcPts val="300"/>
              </a:spcBef>
              <a:spcAft>
                <a:spcPts val="100"/>
              </a:spcAft>
            </a:pPr>
            <a:r>
              <a:rPr sz="950">
                <a:solidFill>
                  <a:srgbClr val="212121"/>
                </a:solidFill>
              </a:rPr>
              <a:t>      ◦ F₁ = 0.411, Precision = 48,6%, Recall = 35,6%</a:t>
            </a:r>
          </a:p>
          <a:p>
            <a:pPr algn="l" lvl="1">
              <a:spcBef>
                <a:spcPts val="300"/>
              </a:spcBef>
              <a:spcAft>
                <a:spcPts val="100"/>
              </a:spcAft>
            </a:pPr>
            <a:r>
              <a:rPr sz="950">
                <a:solidFill>
                  <a:srgbClr val="212121"/>
                </a:solidFill>
              </a:rPr>
              <a:t>      ◦ Modelo funcionou bem em área completamente nova</a:t>
            </a:r>
          </a:p>
          <a:p>
            <a:pPr algn="l" lvl="1">
              <a:spcBef>
                <a:spcPts val="300"/>
              </a:spcBef>
              <a:spcAft>
                <a:spcPts val="100"/>
              </a:spcAft>
            </a:pPr>
            <a:r>
              <a:rPr sz="950">
                <a:solidFill>
                  <a:srgbClr val="212121"/>
                </a:solidFill>
              </a:rPr>
              <a:t>      ◦ Isso valida que o aprendizado generalizou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2"/>
          <p:cNvSpPr txBox="1"/>
          <p:nvPr>
            <p:ph type="title"/>
          </p:nvPr>
        </p:nvSpPr>
        <p:spPr>
          <a:xfrm>
            <a:off x="311700" y="64025"/>
            <a:ext cx="900600" cy="393600"/>
          </a:xfrm>
          <a:prstGeom prst="rect">
            <a:avLst/>
          </a:prstGeom>
        </p:spPr>
        <p:txBody>
          <a:bodyPr anchorCtr="0" anchor="ctr" bIns="0" lIns="13715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rgbClr val="000000"/>
                </a:solidFill>
              </a:rPr>
              <a:t>Mapa de Predição — Resultado Final do RF</a:t>
            </a:r>
            <a:endParaRPr/>
          </a:p>
        </p:txBody>
      </p:sp>
      <p:pic>
        <p:nvPicPr>
          <p:cNvPr id="135" name="Picture 134" descr="fig_mapa_predica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4000" y="1805086"/>
            <a:ext cx="5328000" cy="1897827"/>
          </a:xfrm>
          <a:prstGeom prst="rect">
            <a:avLst/>
          </a:prstGeom>
        </p:spPr>
      </p:pic>
      <p:sp>
        <p:nvSpPr>
          <p:cNvPr id="136" name="TextBox 135"/>
          <p:cNvSpPr txBox="1"/>
          <p:nvPr/>
        </p:nvSpPr>
        <p:spPr>
          <a:xfrm>
            <a:off x="5616000" y="503999"/>
            <a:ext cx="3384000" cy="4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4285F4"/>
                </a:solidFill>
              </a:rPr>
              <a:t>O que o modelo produziu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700">
                <a:solidFill>
                  <a:srgbClr val="A4C2F4"/>
                </a:solidFill>
              </a:rPr>
              <a:t>────────────────────────────────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950">
                <a:solidFill>
                  <a:srgbClr val="212121"/>
                </a:solidFill>
              </a:rPr>
              <a:t>   • Entrada: imagem completa (~39 milhões de pixels)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950">
                <a:solidFill>
                  <a:srgbClr val="212121"/>
                </a:solidFill>
              </a:rPr>
              <a:t>   • Processamento: o RF classificou cada pixel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950">
                <a:solidFill>
                  <a:srgbClr val="212121"/>
                </a:solidFill>
              </a:rPr>
              <a:t>   • Saída: mapa binário de queimado / não queimado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950">
                <a:solidFill>
                  <a:srgbClr val="212121"/>
                </a:solidFill>
              </a:rPr>
              <a:t>   • O mapa tem três partes para comparação:</a:t>
            </a:r>
          </a:p>
          <a:p>
            <a:pPr algn="l" lvl="1">
              <a:spcBef>
                <a:spcPts val="300"/>
              </a:spcBef>
              <a:spcAft>
                <a:spcPts val="100"/>
              </a:spcAft>
            </a:pPr>
            <a:r>
              <a:rPr sz="950">
                <a:solidFill>
                  <a:srgbClr val="212121"/>
                </a:solidFill>
              </a:rPr>
              <a:t>      ◦ Esquerda: índice dNBR (referência física)</a:t>
            </a:r>
          </a:p>
          <a:p>
            <a:pPr algn="l" lvl="1">
              <a:spcBef>
                <a:spcPts val="300"/>
              </a:spcBef>
              <a:spcAft>
                <a:spcPts val="100"/>
              </a:spcAft>
            </a:pPr>
            <a:r>
              <a:rPr sz="950">
                <a:solidFill>
                  <a:srgbClr val="212121"/>
                </a:solidFill>
              </a:rPr>
              <a:t>      ◦ vermelho = cicatriz severa</a:t>
            </a:r>
          </a:p>
          <a:p>
            <a:pPr algn="l" lvl="1">
              <a:spcBef>
                <a:spcPts val="300"/>
              </a:spcBef>
              <a:spcAft>
                <a:spcPts val="100"/>
              </a:spcAft>
            </a:pPr>
            <a:r>
              <a:rPr sz="950">
                <a:solidFill>
                  <a:srgbClr val="212121"/>
                </a:solidFill>
              </a:rPr>
              <a:t>      ◦ Centro: máscara de referência (gabarito)</a:t>
            </a:r>
          </a:p>
          <a:p>
            <a:pPr algn="l" lvl="1">
              <a:spcBef>
                <a:spcPts val="300"/>
              </a:spcBef>
              <a:spcAft>
                <a:spcPts val="100"/>
              </a:spcAft>
            </a:pPr>
            <a:r>
              <a:rPr sz="950">
                <a:solidFill>
                  <a:srgbClr val="212121"/>
                </a:solidFill>
              </a:rPr>
              <a:t>      ◦ gerada a partir do dNBR &gt; 0.65</a:t>
            </a:r>
          </a:p>
          <a:p>
            <a:pPr algn="l" lvl="1">
              <a:spcBef>
                <a:spcPts val="300"/>
              </a:spcBef>
              <a:spcAft>
                <a:spcPts val="100"/>
              </a:spcAft>
            </a:pPr>
            <a:r>
              <a:rPr sz="950">
                <a:solidFill>
                  <a:srgbClr val="212121"/>
                </a:solidFill>
              </a:rPr>
              <a:t>      ◦ Direita: predição do RF com limiar ajustado</a:t>
            </a:r>
          </a:p>
          <a:p>
            <a:pPr algn="l" lvl="1">
              <a:spcBef>
                <a:spcPts val="300"/>
              </a:spcBef>
              <a:spcAft>
                <a:spcPts val="100"/>
              </a:spcAft>
            </a:pPr>
            <a:r>
              <a:rPr sz="950">
                <a:solidFill>
                  <a:srgbClr val="212121"/>
                </a:solidFill>
              </a:rPr>
              <a:t>      ◦ vermelho = pixel classificado como queimado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950">
                <a:solidFill>
                  <a:srgbClr val="212121"/>
                </a:solidFill>
              </a:rPr>
              <a:t>   • Análise visual:</a:t>
            </a:r>
          </a:p>
          <a:p>
            <a:pPr algn="l" lvl="1">
              <a:spcBef>
                <a:spcPts val="300"/>
              </a:spcBef>
              <a:spcAft>
                <a:spcPts val="100"/>
              </a:spcAft>
            </a:pPr>
            <a:r>
              <a:rPr sz="950">
                <a:solidFill>
                  <a:srgbClr val="212121"/>
                </a:solidFill>
              </a:rPr>
              <a:t>      ◦ Principais áreas queimadas foram detectadas</a:t>
            </a:r>
          </a:p>
          <a:p>
            <a:pPr algn="l" lvl="1">
              <a:spcBef>
                <a:spcPts val="300"/>
              </a:spcBef>
              <a:spcAft>
                <a:spcPts val="100"/>
              </a:spcAft>
            </a:pPr>
            <a:r>
              <a:rPr sz="950">
                <a:solidFill>
                  <a:srgbClr val="212121"/>
                </a:solidFill>
              </a:rPr>
              <a:t>      ◦ Forma espacial das cicatrizes foi preservada</a:t>
            </a:r>
          </a:p>
          <a:p>
            <a:pPr algn="l" lvl="1">
              <a:spcBef>
                <a:spcPts val="300"/>
              </a:spcBef>
              <a:spcAft>
                <a:spcPts val="100"/>
              </a:spcAft>
            </a:pPr>
            <a:r>
              <a:rPr sz="950">
                <a:solidFill>
                  <a:srgbClr val="212121"/>
                </a:solidFill>
              </a:rPr>
              <a:t>      ◦ F₁ = 0.247 — resultado com maior Precision (29%)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3"/>
          <p:cNvSpPr txBox="1"/>
          <p:nvPr>
            <p:ph type="title"/>
          </p:nvPr>
        </p:nvSpPr>
        <p:spPr>
          <a:xfrm>
            <a:off x="311700" y="64025"/>
            <a:ext cx="2822100" cy="393600"/>
          </a:xfrm>
          <a:prstGeom prst="rect">
            <a:avLst/>
          </a:prstGeom>
        </p:spPr>
        <p:txBody>
          <a:bodyPr anchorCtr="0" anchor="ctr" bIns="0" lIns="13715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rgbClr val="000000"/>
                </a:solidFill>
              </a:rPr>
              <a:t>Onde o Modelo Errou — Mapa de Erros</a:t>
            </a:r>
            <a:endParaRPr/>
          </a:p>
        </p:txBody>
      </p:sp>
      <p:pic>
        <p:nvPicPr>
          <p:cNvPr id="143" name="Picture 142" descr="fig_mapa_erro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4000" y="503999"/>
            <a:ext cx="4329113" cy="4500000"/>
          </a:xfrm>
          <a:prstGeom prst="rect">
            <a:avLst/>
          </a:prstGeom>
        </p:spPr>
      </p:pic>
      <p:sp>
        <p:nvSpPr>
          <p:cNvPr id="144" name="TextBox 143"/>
          <p:cNvSpPr txBox="1"/>
          <p:nvPr/>
        </p:nvSpPr>
        <p:spPr>
          <a:xfrm>
            <a:off x="5616000" y="503999"/>
            <a:ext cx="3384000" cy="4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4285F4"/>
                </a:solidFill>
              </a:rPr>
              <a:t>Lendo o mapa de erros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700">
                <a:solidFill>
                  <a:srgbClr val="A4C2F4"/>
                </a:solidFill>
              </a:rPr>
              <a:t>────────────────────────────────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950">
                <a:solidFill>
                  <a:srgbClr val="212121"/>
                </a:solidFill>
              </a:rPr>
              <a:t>   • Verde: acertou — pixel queimado detectado corretamente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950">
                <a:solidFill>
                  <a:srgbClr val="212121"/>
                </a:solidFill>
              </a:rPr>
              <a:t>   • Laranja: alarme falso — disse queimado mas não era</a:t>
            </a:r>
          </a:p>
          <a:p>
            <a:pPr algn="l" lvl="1">
              <a:spcBef>
                <a:spcPts val="300"/>
              </a:spcBef>
              <a:spcAft>
                <a:spcPts val="100"/>
              </a:spcAft>
            </a:pPr>
            <a:r>
              <a:rPr sz="950">
                <a:solidFill>
                  <a:srgbClr val="212121"/>
                </a:solidFill>
              </a:rPr>
              <a:t>      ◦ Solos secos têm aparência parecida com queimada</a:t>
            </a:r>
          </a:p>
          <a:p>
            <a:pPr algn="l" lvl="1">
              <a:spcBef>
                <a:spcPts val="300"/>
              </a:spcBef>
              <a:spcAft>
                <a:spcPts val="100"/>
              </a:spcAft>
            </a:pPr>
            <a:r>
              <a:rPr sz="950">
                <a:solidFill>
                  <a:srgbClr val="212121"/>
                </a:solidFill>
              </a:rPr>
              <a:t>      ◦ Pastagens secas também confundem o modelo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950">
                <a:solidFill>
                  <a:srgbClr val="212121"/>
                </a:solidFill>
              </a:rPr>
              <a:t>   • Vermelho: queimada perdida — era queimado mas não viu</a:t>
            </a:r>
          </a:p>
          <a:p>
            <a:pPr algn="l" lvl="1">
              <a:spcBef>
                <a:spcPts val="300"/>
              </a:spcBef>
              <a:spcAft>
                <a:spcPts val="100"/>
              </a:spcAft>
            </a:pPr>
            <a:r>
              <a:rPr sz="950">
                <a:solidFill>
                  <a:srgbClr val="212121"/>
                </a:solidFill>
              </a:rPr>
              <a:t>      ◦ Queimadas fracas têm sinal parecido com não-queimado</a:t>
            </a:r>
          </a:p>
          <a:p>
            <a:pPr algn="l" lvl="1">
              <a:spcBef>
                <a:spcPts val="300"/>
              </a:spcBef>
              <a:spcAft>
                <a:spcPts val="100"/>
              </a:spcAft>
            </a:pPr>
            <a:r>
              <a:rPr sz="950">
                <a:solidFill>
                  <a:srgbClr val="212121"/>
                </a:solidFill>
              </a:rPr>
              <a:t>      ◦ Zonas de transição entre queimado e preservado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950">
                <a:solidFill>
                  <a:srgbClr val="212121"/>
                </a:solidFill>
              </a:rPr>
              <a:t>   • Cinza: acertou — pixel não-queimado identificado (maioria)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950">
                <a:solidFill>
                  <a:srgbClr val="212121"/>
                </a:solidFill>
              </a:rPr>
              <a:t>   • Por que esses erros acontecem?</a:t>
            </a:r>
          </a:p>
          <a:p>
            <a:pPr algn="l" lvl="1">
              <a:spcBef>
                <a:spcPts val="300"/>
              </a:spcBef>
              <a:spcAft>
                <a:spcPts val="100"/>
              </a:spcAft>
            </a:pPr>
            <a:r>
              <a:rPr sz="950">
                <a:solidFill>
                  <a:srgbClr val="212121"/>
                </a:solidFill>
              </a:rPr>
              <a:t>      ◦ Sem o dNBR na entrada, as classes ficam confusas</a:t>
            </a:r>
          </a:p>
          <a:p>
            <a:pPr algn="l" lvl="1">
              <a:spcBef>
                <a:spcPts val="300"/>
              </a:spcBef>
              <a:spcAft>
                <a:spcPts val="100"/>
              </a:spcAft>
            </a:pPr>
            <a:r>
              <a:rPr sz="950">
                <a:solidFill>
                  <a:srgbClr val="212121"/>
                </a:solidFill>
              </a:rPr>
              <a:t>      ◦ Solo seco e queimada têm reflexo espectral parecido</a:t>
            </a:r>
          </a:p>
          <a:p>
            <a:pPr algn="l" lvl="1">
              <a:spcBef>
                <a:spcPts val="300"/>
              </a:spcBef>
              <a:spcAft>
                <a:spcPts val="100"/>
              </a:spcAft>
            </a:pPr>
            <a:r>
              <a:rPr sz="950">
                <a:solidFill>
                  <a:srgbClr val="212121"/>
                </a:solidFill>
              </a:rPr>
              <a:t>      ◦ A diferença temporal (dNBR) resolveria isso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950">
                <a:solidFill>
                  <a:srgbClr val="212121"/>
                </a:solidFill>
              </a:rPr>
              <a:t>   • Porém incluir dNBR seria usar a resposta como entrada</a:t>
            </a:r>
          </a:p>
          <a:p>
            <a:pPr algn="l" lvl="1">
              <a:spcBef>
                <a:spcPts val="300"/>
              </a:spcBef>
              <a:spcAft>
                <a:spcPts val="100"/>
              </a:spcAft>
            </a:pPr>
            <a:r>
              <a:rPr sz="950">
                <a:solidFill>
                  <a:srgbClr val="212121"/>
                </a:solidFill>
              </a:rPr>
              <a:t>      ◦ Esse é o custo real de um modelo sem vazamento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
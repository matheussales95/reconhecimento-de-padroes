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Raleway Medium"/>
      <p:regular r:id="rId28"/>
      <p:bold r:id="rId29"/>
      <p:italic r:id="rId30"/>
      <p:boldItalic r:id="rId31"/>
    </p:embeddedFont>
    <p:embeddedFont>
      <p:font typeface="Oswald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font" Target="fonts/Raleway-regular.fntdata"/><Relationship Id="rId25" Type="http://schemas.openxmlformats.org/officeDocument/2006/relationships/font" Target="fonts/Raleway-bold.fntdata"/><Relationship Id="rId26" Type="http://schemas.openxmlformats.org/officeDocument/2006/relationships/font" Target="fonts/Raleway-italic.fntdata"/><Relationship Id="rId27" Type="http://schemas.openxmlformats.org/officeDocument/2006/relationships/font" Target="fonts/Raleway-boldItalic.fntdata"/><Relationship Id="rId28" Type="http://schemas.openxmlformats.org/officeDocument/2006/relationships/font" Target="fonts/RalewayMedium-regular.fntdata"/><Relationship Id="rId29" Type="http://schemas.openxmlformats.org/officeDocument/2006/relationships/font" Target="fonts/RalewayMedium-bold.fntdata"/><Relationship Id="rId30" Type="http://schemas.openxmlformats.org/officeDocument/2006/relationships/font" Target="fonts/RalewayMedium-italic.fntdata"/><Relationship Id="rId31" Type="http://schemas.openxmlformats.org/officeDocument/2006/relationships/font" Target="fonts/RalewayMedium-boldItalic.fntdata"/><Relationship Id="rId32" Type="http://schemas.openxmlformats.org/officeDocument/2006/relationships/font" Target="fonts/Oswald-regular.fntdata"/><Relationship Id="rId33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2d697e4dc8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2d697e4dc8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2d697e4dc8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2d697e4dc8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46d5bec3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3e46d5bec3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46d5bec3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e46d5bec3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46d5bec3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46d5bec3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6d5bec3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46d5bec3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46d5bec3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46d5bec3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46d5bec3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46d5bec3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46d5bec3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46d5bec3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46d5bec3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46d5bec3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46d5bec3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46d5bec3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46d5bec3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46d5bec3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46d5bec3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46d5bec3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46d5bec3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46d5bec3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46d5bec3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46d5bec3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6d5bec3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46d5bec3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6d5bec3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46d5bec3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3334889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aleway"/>
              <a:buNone/>
              <a:defRPr sz="2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2529150"/>
            <a:ext cx="9144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55476" y="746487"/>
            <a:ext cx="4619126" cy="5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ctrTitle"/>
          </p:nvPr>
        </p:nvSpPr>
        <p:spPr>
          <a:xfrm>
            <a:off x="1553500" y="1842150"/>
            <a:ext cx="6036900" cy="1459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4200"/>
              <a:buNone/>
              <a:defRPr sz="4200">
                <a:solidFill>
                  <a:srgbClr val="4D62B0"/>
                </a:solidFill>
              </a:defRPr>
            </a:lvl9pPr>
          </a:lstStyle>
          <a:p/>
        </p:txBody>
      </p:sp>
      <p:pic>
        <p:nvPicPr>
          <p:cNvPr id="15" name="Google Shape;15;p2" title="sisam-horztl_5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736" y="733150"/>
            <a:ext cx="1954200" cy="5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2529150"/>
            <a:ext cx="9144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2258450" y="1842150"/>
            <a:ext cx="4626900" cy="14592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182875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3000"/>
              <a:buNone/>
              <a:defRPr sz="3000">
                <a:solidFill>
                  <a:srgbClr val="4D62B0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691900"/>
            <a:ext cx="8585400" cy="3876900"/>
          </a:xfrm>
          <a:prstGeom prst="rect">
            <a:avLst/>
          </a:prstGeom>
        </p:spPr>
        <p:txBody>
          <a:bodyPr anchorCtr="0" anchor="t" bIns="0" lIns="13715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4"/>
          <p:cNvSpPr/>
          <p:nvPr/>
        </p:nvSpPr>
        <p:spPr>
          <a:xfrm>
            <a:off x="0" y="211325"/>
            <a:ext cx="75510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8897100" y="211325"/>
            <a:ext cx="246900" cy="852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64025"/>
            <a:ext cx="7064100" cy="393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13715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D62B0"/>
              </a:buClr>
              <a:buSzPts val="2400"/>
              <a:buNone/>
              <a:defRPr sz="2400">
                <a:solidFill>
                  <a:srgbClr val="4D62B0"/>
                </a:solidFill>
              </a:defRPr>
            </a:lvl9pPr>
          </a:lstStyle>
          <a:p/>
        </p:txBody>
      </p:sp>
      <p:pic>
        <p:nvPicPr>
          <p:cNvPr id="25" name="Google Shape;25;p4" title="sisam-horztl_51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1537" y="37375"/>
            <a:ext cx="1212692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aleway Medium"/>
              <a:buChar char="●"/>
              <a:defRPr sz="1800"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●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○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 Medium"/>
              <a:buChar char="■"/>
              <a:defRPr>
                <a:solidFill>
                  <a:schemeClr val="dk2"/>
                </a:solidFill>
                <a:latin typeface="Raleway Medium"/>
                <a:ea typeface="Raleway Medium"/>
                <a:cs typeface="Raleway Medium"/>
                <a:sym typeface="Raleway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ctrTitle"/>
          </p:nvPr>
        </p:nvSpPr>
        <p:spPr>
          <a:xfrm>
            <a:off x="2152800" y="1842150"/>
            <a:ext cx="4838400" cy="14592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00" b="1"/>
              <a:t>Random Forest para Detecção de Área Queimada</a:t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311700" y="3604703"/>
            <a:ext cx="8520600" cy="14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600"/>
              <a:t>Classificação binária pixel a pixel: Queimado (1) / Não Queimado (0)</a:t>
            </a:r>
            <a:endParaRPr sz="1800"/>
          </a:p>
          <a:p>
            <a:pPr algn="ctr"/>
            <a:r>
              <a:rPr sz="1600"/>
              <a:t>Imagens Landsat 8 e 9 — Bandas B4, B5, B7 + índices NDVI e NBR</a:t>
            </a:r>
          </a:p>
          <a:p>
            <a:pPr algn="ctr"/>
            <a:r>
              <a:rPr sz="1600"/>
              <a:t>Reconhecimento de Padrões — UNESP ICT</a:t>
            </a:r>
          </a:p>
          <a:p>
            <a:pPr algn="ctr"/>
            <a:r>
              <a:rPr sz="1600"/>
              <a:t>Ryan Alves · Matheus Sales · Pedro · Abner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ctrTitle"/>
          </p:nvPr>
        </p:nvSpPr>
        <p:spPr>
          <a:xfrm>
            <a:off x="3345200" y="1842150"/>
            <a:ext cx="2453700" cy="14592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Entrada — Dados Landsat e Atributos por Pixel</a:t>
            </a:r>
            <a:endParaRPr/>
          </a:p>
        </p:txBody>
      </p:sp>
      <p:pic>
        <p:nvPicPr>
          <p:cNvPr id="39" name="Picture 38" descr="fig_features_s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00" y="987457"/>
            <a:ext cx="5328000" cy="353308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Entrada: o que alimenta o modelo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Fonte: 2 imagens Landsat (antes e depois do incêndio)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Cena 221/074 — treino e validação (4,8% queimado)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Cena 220/075 — teste final em área nova (7,9%)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10 atributos extraídos por pixel: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B4, B5, B7, NDVI, NBR da imagem pré-fogo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B4, B5, B7, NDVI, NBR da imagem pós-fogo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gráfico mostra separação entre classes por atributo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verde = não queimado / vermelho = queimado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dNBR e dNDVI foram excluídos (vazamento de dados):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O gabarito foi criado usando dNBR &gt; 0.65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Usar dNBR como entrada = dar a resposta ao modelo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idx="1" type="body"/>
          </p:nvPr>
        </p:nvSpPr>
        <p:spPr>
          <a:xfrm>
            <a:off x="279300" y="501125"/>
            <a:ext cx="8585400" cy="11307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 sz="1500"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311700" y="64025"/>
            <a:ext cx="30138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Processamento — O Modelo Random Forest</a:t>
            </a:r>
            <a:endParaRPr/>
          </a:p>
        </p:txBody>
      </p:sp>
      <p:pic>
        <p:nvPicPr>
          <p:cNvPr id="45" name="Picture 44" descr="fig_rf_diversid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685099"/>
            <a:ext cx="5328000" cy="21378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Como o RF processa cada pixel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Entrada: vetor de 10 atributos por pixel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Processamento: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171 árvores de decisão treinadas em paralelo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Cada árvore aprende com uma amostra dos pixels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Cada divisão testa apenas alguns atributos ao acaso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Árvores diferentes cometem erros diferentes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Saída: probabilidade de queimado (0 a 1) por pixel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A votação das árvores reduz o erro individual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gráfico mostra a correlação entre árvores: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RF (direita): árvores mais independentes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Bagging (esquerda): árvores mais correlacionadas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Mais independência → erros se cancelam melhor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311700" y="64025"/>
            <a:ext cx="13167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Processamento — Corrigindo o Desbalanceamento de Classes</a:t>
            </a:r>
            <a:endParaRPr/>
          </a:p>
        </p:txBody>
      </p:sp>
      <p:pic>
        <p:nvPicPr>
          <p:cNvPr id="51" name="Picture 50" descr="fig_resampl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640309"/>
            <a:ext cx="5328000" cy="42273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Problema: 92–96% dos pixels não são queimados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Sem correção: modelo diz "não queimado" sempre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95% de acurácia, zero queimadas detectadas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4 estratégias testadas para corrigir: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class_weight: penaliza mais o erro na minoria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Undersampling: descarta não-queimados → treino 1:1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SMOTE: cria pixels queimados sintéticos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SMOTETomek: SMOTE + remove exemplos ambíguos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gráfico mostra o efeito de cada estratégia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sobre a distribuição no espaço de atributos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Resultado: class_weight com limiar ajustado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liderou o F₁ final (0.262)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311700" y="64025"/>
            <a:ext cx="4058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Processamento — Validação Espacial e Ajuste do Limiar</a:t>
            </a:r>
            <a:endParaRPr/>
          </a:p>
        </p:txBody>
      </p:sp>
      <p:pic>
        <p:nvPicPr>
          <p:cNvPr id="57" name="Picture 56" descr="fig_threshold_p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880190"/>
            <a:ext cx="5328000" cy="174761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Duas decisões críticas no processamento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Validação por blocos espaciais: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Pixels vizinhos são muito parecidos (mesma cena)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Divisão aleatória infla o resultado (F₁ ≈ 0.89)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Solução: 16 blocos geográficos, 4 só para teste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Resultado real com blocos: F₁ ≈ 0.48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Ajuste do limiar de decisão τ: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RF produz probabilidade → τ define "queimado"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Limiar padrão 50% detecta quase nada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Buscamos τ* que maximiza F₁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gráfico mostra a curva Precision vs Recall: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τ* = 0.65 → F₁ = 0.329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Precision = 37,8% / Recall = 29,1%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311700" y="64025"/>
            <a:ext cx="12558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Comparação das Estratégias — Dados Reais</a:t>
            </a:r>
            <a:endParaRPr/>
          </a:p>
        </p:txBody>
      </p:sp>
      <p:pic>
        <p:nvPicPr>
          <p:cNvPr id="63" name="Picture 62" descr="fig_estrategias_co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703484"/>
            <a:ext cx="5328000" cy="2101031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Entrada → Processamento → Saída por estratégia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Entrada: mesmos 10 atributos para todas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Processamento: varia a estratégia de balanceamento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Saída (F₁ com τ*):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Sem tratamento: F₁ &lt; 0.03 — inaceitável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Undersampling: alto Recall, menor F₁ geral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SMOTE / SMOTETomek: resultado parecido entre os dois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class_weight + τ*: melhor F₁ (0.262)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ajuste do limiar τ* foi decisivo: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Sem ele, todas as estratégias ficam abaixo de 0.05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Com ele, class_weight alcançou 37,8% de Precision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Conclusão: balancear os dados não é suficiente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o limiar precisa ser ajustado junto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Saída — Mapa de Predição do RF</a:t>
            </a:r>
            <a:endParaRPr/>
          </a:p>
        </p:txBody>
      </p:sp>
      <p:pic>
        <p:nvPicPr>
          <p:cNvPr id="69" name="Picture 68" descr="fig_mapa_predica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1805086"/>
            <a:ext cx="5328000" cy="189782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Entrada → Processamento → Saída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Entrada: imagem completa (~39 milhões de pixels)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Processamento: RF classifica cada pixel com τ* = 0.65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Saída: mapa binário queimado / não queimado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O mapa tem três partes (esq → dir):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dNBR: referência física da cicatriz de fogo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Gabarito: máscara criada com dNBR &gt; 0.65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Predição RF: resultado do modelo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vermelho = pixel classificado como queimado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F₁ = 0.247 no mapa completo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Precision = 29,2% / Recall = 21,3%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Principais cicatrizes foram detectadas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Forma espacial das áreas preservada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311700" y="64025"/>
            <a:ext cx="14907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</a:rPr>
              <a:t>Saída — Análise de Erros e Conclusão</a:t>
            </a:r>
            <a:endParaRPr/>
          </a:p>
        </p:txBody>
      </p:sp>
      <p:pic>
        <p:nvPicPr>
          <p:cNvPr id="75" name="Picture 74" descr="fig_mapa_er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000" y="503999"/>
            <a:ext cx="4329113" cy="45000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5616000" y="503999"/>
            <a:ext cx="3384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4285F4"/>
                </a:solidFill>
              </a:rPr>
              <a:t>O que o mapa de erros revela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700">
                <a:solidFill>
                  <a:srgbClr val="A4C2F4"/>
                </a:solidFill>
              </a:rPr>
              <a:t>────────────────────────────────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Verde: queimada detectada corretamente (TP = 16.252)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Laranja: alarme falso (FP = 39.328)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Solo seco e pastagem têm reflexo parecido com queimada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Vermelho: queimada perdida (FN = 59.905)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Cicatrizes fracas têm sinal parecido com vegetação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Cross-scene (cena nunca vista pelo modelo):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F₁ = 0.411 — modelo generalizou para nova área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Limitação central: sem dNBR a separação é difícil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dNBR foi excluído porque criou o gabarito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Esse é o custo de um modelo sem vazamento de dados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• Conclusão: RF detecta queimadas sem usar o dNBR</a:t>
            </a:r>
          </a:p>
          <a:p>
            <a:pPr algn="l" lvl="1">
              <a:spcBef>
                <a:spcPts val="300"/>
              </a:spcBef>
              <a:spcAft>
                <a:spcPts val="100"/>
              </a:spcAft>
            </a:pPr>
            <a:r>
              <a:rPr sz="950">
                <a:solidFill>
                  <a:srgbClr val="212121"/>
                </a:solidFill>
              </a:rPr>
              <a:t>      ◦ mas há tradeoff entre Precision e Recall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311700" y="64025"/>
            <a:ext cx="11775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title"/>
          </p:nvPr>
        </p:nvSpPr>
        <p:spPr>
          <a:xfrm>
            <a:off x="311700" y="64025"/>
            <a:ext cx="12384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64025"/>
            <a:ext cx="9162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64025"/>
            <a:ext cx="9162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64025"/>
            <a:ext cx="9510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64025"/>
            <a:ext cx="9006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64025"/>
            <a:ext cx="2822100" cy="393600"/>
          </a:xfrm>
          <a:prstGeom prst="rect">
            <a:avLst/>
          </a:prstGeom>
        </p:spPr>
        <p:txBody>
          <a:bodyPr anchorCtr="0" anchor="ctr" bIns="0" lIns="1371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
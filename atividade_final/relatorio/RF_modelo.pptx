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aleway Medium"/>
      <p:regular r:id="rId28"/>
      <p:bold r:id="rId29"/>
      <p:italic r:id="rId30"/>
      <p:boldItalic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Raleway-regular.fntdata"/><Relationship Id="rId25" Type="http://schemas.openxmlformats.org/officeDocument/2006/relationships/font" Target="fonts/Raleway-bold.fntdata"/><Relationship Id="rId26" Type="http://schemas.openxmlformats.org/officeDocument/2006/relationships/font" Target="fonts/Raleway-italic.fntdata"/><Relationship Id="rId27" Type="http://schemas.openxmlformats.org/officeDocument/2006/relationships/font" Target="fonts/Raleway-boldItalic.fntdata"/><Relationship Id="rId28" Type="http://schemas.openxmlformats.org/officeDocument/2006/relationships/font" Target="fonts/RalewayMedium-regular.fntdata"/><Relationship Id="rId29" Type="http://schemas.openxmlformats.org/officeDocument/2006/relationships/font" Target="fonts/RalewayMedium-bold.fntdata"/><Relationship Id="rId30" Type="http://schemas.openxmlformats.org/officeDocument/2006/relationships/font" Target="fonts/RalewayMedium-italic.fntdata"/><Relationship Id="rId31" Type="http://schemas.openxmlformats.org/officeDocument/2006/relationships/font" Target="fonts/RalewayMedium-boldItalic.fntdata"/><Relationship Id="rId32" Type="http://schemas.openxmlformats.org/officeDocument/2006/relationships/font" Target="fonts/Oswald-regular.fntdata"/><Relationship Id="rId33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d697e4dc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d697e4dc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d697e4dc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d697e4dc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46d5bec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e46d5bec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6d5bec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46d5bec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6d5bec3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6d5bec3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6d5bec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6d5bec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d5bec3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d5bec3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6d5bec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6d5bec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6d5bec3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6d5bec3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6d5bec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6d5bec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6d5bec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6d5bec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6d5bec3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6d5bec3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6d5bec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6d5bec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6d5bec3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6d5bec3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d5bec3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d5bec3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6d5bec3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6d5bec3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6d5bec3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6d5bec3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333488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5476" y="746487"/>
            <a:ext cx="4619126" cy="5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53500" y="1842150"/>
            <a:ext cx="603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15" name="Google Shape;15;p2" title="sisam-horztl_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36" y="733150"/>
            <a:ext cx="1954200" cy="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2258450" y="1842150"/>
            <a:ext cx="462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691900"/>
            <a:ext cx="8585400" cy="3876900"/>
          </a:xfrm>
          <a:prstGeom prst="rect">
            <a:avLst/>
          </a:prstGeom>
        </p:spPr>
        <p:txBody>
          <a:bodyPr anchorCtr="0" anchor="t" bIns="0" lIns="13715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211325"/>
            <a:ext cx="7551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897100" y="211325"/>
            <a:ext cx="2469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64025"/>
            <a:ext cx="70641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13715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25" name="Google Shape;25;p4" title="sisam-horztl_51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537" y="37375"/>
            <a:ext cx="1212692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Medium"/>
              <a:buChar char="●"/>
              <a:defRPr sz="18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2152800" y="1842150"/>
            <a:ext cx="48384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1700" y="3604703"/>
            <a:ext cx="85206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" name="TextBox 33"/>
          <p:cNvSpPr txBox="1"/>
          <p:nvPr/>
        </p:nvSpPr>
        <p:spPr>
          <a:xfrm>
            <a:off x="1620000" y="1620000"/>
            <a:ext cx="5903999" cy="1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200" y="3528000"/>
            <a:ext cx="8521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</a:rPr>
              <a:t>Detecção de Área Queimada — Imagens Landsat 8/9</a:t>
            </a:r>
          </a:p>
          <a:p>
            <a:pPr algn="ctr"/>
            <a:r>
              <a:rPr sz="1600">
                <a:solidFill>
                  <a:srgbClr val="555555"/>
                </a:solidFill>
              </a:rPr>
              <a:t>Ryan Alves · Matheus Sales · Pedro · Abner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345200" y="1842150"/>
            <a:ext cx="24537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20000" y="1800000"/>
            <a:ext cx="4104000" cy="1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285F4"/>
                </a:solidFill>
              </a:rPr>
              <a:t>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" type="body"/>
          </p:nvPr>
        </p:nvSpPr>
        <p:spPr>
          <a:xfrm>
            <a:off x="279300" y="501125"/>
            <a:ext cx="8585400" cy="11307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64025"/>
            <a:ext cx="3013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Random Forest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00" y="503999"/>
            <a:ext cx="806399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O Random Forest combina centenas de árvores de decisão: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• Cada árvore aprende com uma amostra de pixels e atributos aleatórios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• A baixa correlação entre árvores garante que os erros se cancelem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• Saída: probabilidade de queimado (0–1) para cada pixel</a:t>
            </a:r>
          </a:p>
        </p:txBody>
      </p:sp>
      <p:pic>
        <p:nvPicPr>
          <p:cNvPr id="47" name="Picture 46" descr="fig_rf_divers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01" y="1512000"/>
            <a:ext cx="8783796" cy="3524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64025"/>
            <a:ext cx="1316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Entradas</a:t>
            </a:r>
          </a:p>
        </p:txBody>
      </p:sp>
      <p:pic>
        <p:nvPicPr>
          <p:cNvPr id="52" name="Picture 51" descr="pipeline_entrada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99" y="1457247"/>
            <a:ext cx="8841600" cy="2625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64025"/>
            <a:ext cx="4058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Entradas</a:t>
            </a:r>
          </a:p>
        </p:txBody>
      </p:sp>
      <p:pic>
        <p:nvPicPr>
          <p:cNvPr id="58" name="Picture 57" descr="fig_features_s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501" y="504000"/>
            <a:ext cx="6834997" cy="4532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11700" y="64025"/>
            <a:ext cx="1255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Dados desbalanceados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0000" y="503999"/>
            <a:ext cx="806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4–8% dos pixels são queimados → modelo aprende a ignorar a minoria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4 estratégias testadas: class_weight · Undersampling · SMOTE · SMOTETomek</a:t>
            </a:r>
          </a:p>
        </p:txBody>
      </p:sp>
      <p:pic>
        <p:nvPicPr>
          <p:cNvPr id="65" name="Picture 64" descr="fig_resam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452" y="1116000"/>
            <a:ext cx="4941095" cy="3920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Validação por Blocos Espaciais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0000" y="503999"/>
            <a:ext cx="806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Pixels vizinhos são altamente correlacionados — divisão aleatória infla métricas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Solução: grade 4×4 (16 blocos); 4 blocos (~25%) reservados para teste</a:t>
            </a:r>
          </a:p>
        </p:txBody>
      </p:sp>
      <p:pic>
        <p:nvPicPr>
          <p:cNvPr id="71" name="Picture 70" descr="fig_blocos_espacia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118" y="1116000"/>
            <a:ext cx="3931763" cy="3920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64025"/>
            <a:ext cx="1490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Estratégias de Desbalanceamento</a:t>
            </a:r>
          </a:p>
        </p:txBody>
      </p:sp>
      <p:pic>
        <p:nvPicPr>
          <p:cNvPr id="76" name="Picture 75" descr="fig_estrategias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" y="1916301"/>
            <a:ext cx="4330800" cy="1707797"/>
          </a:xfrm>
          <a:prstGeom prst="rect">
            <a:avLst/>
          </a:prstGeom>
        </p:spPr>
      </p:pic>
      <p:pic>
        <p:nvPicPr>
          <p:cNvPr id="77" name="Picture 76" descr="tab_estrategias_r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0" y="2235140"/>
            <a:ext cx="4330800" cy="10701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64025"/>
            <a:ext cx="11775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Otimização do Limiar de Decisão</a:t>
            </a:r>
          </a:p>
        </p:txBody>
      </p:sp>
      <p:pic>
        <p:nvPicPr>
          <p:cNvPr id="82" name="Picture 81" descr="fig_threshold_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" y="2059934"/>
            <a:ext cx="4330800" cy="1420531"/>
          </a:xfrm>
          <a:prstGeom prst="rect">
            <a:avLst/>
          </a:prstGeom>
        </p:spPr>
      </p:pic>
      <p:pic>
        <p:nvPicPr>
          <p:cNvPr id="83" name="Picture 82" descr="tab_threshold_r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0" y="2399821"/>
            <a:ext cx="4330800" cy="740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64025"/>
            <a:ext cx="12384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Validação Cross-Cena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0000" y="503999"/>
            <a:ext cx="806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Treino: cena 221/074  →  Teste: cena 220/075 (nunca vista)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F₁ = 0,411  ·  Precision = 48,6%  ·  MCC = 0,374</a:t>
            </a:r>
          </a:p>
        </p:txBody>
      </p:sp>
      <p:pic>
        <p:nvPicPr>
          <p:cNvPr id="89" name="Picture 88" descr="fig_cena_2210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" y="2366350"/>
            <a:ext cx="4330800" cy="1419699"/>
          </a:xfrm>
          <a:prstGeom prst="rect">
            <a:avLst/>
          </a:prstGeom>
        </p:spPr>
      </p:pic>
      <p:pic>
        <p:nvPicPr>
          <p:cNvPr id="90" name="Picture 89" descr="fig_cena_2200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000" y="2366820"/>
            <a:ext cx="4330800" cy="1418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Saída</a:t>
            </a:r>
          </a:p>
        </p:txBody>
      </p:sp>
      <p:pic>
        <p:nvPicPr>
          <p:cNvPr id="94" name="Picture 93" descr="fig_mapa_predi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99" y="1195516"/>
            <a:ext cx="8841600" cy="31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Saída</a:t>
            </a:r>
          </a:p>
        </p:txBody>
      </p:sp>
      <p:pic>
        <p:nvPicPr>
          <p:cNvPr id="100" name="Picture 99" descr="fig_mapa_err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00" y="519323"/>
            <a:ext cx="4330800" cy="4501752"/>
          </a:xfrm>
          <a:prstGeom prst="rect">
            <a:avLst/>
          </a:prstGeom>
        </p:spPr>
      </p:pic>
      <p:pic>
        <p:nvPicPr>
          <p:cNvPr id="101" name="Picture 100" descr="tab_mapa_r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000" y="2180206"/>
            <a:ext cx="4330800" cy="1179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13200" y="64800"/>
            <a:ext cx="5400000" cy="39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Importância dos Atributos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0000" y="503999"/>
            <a:ext cx="806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Distribuição uniforme (8,3%–11,5%) confirma ausência de leakage de dados</a:t>
            </a:r>
          </a:p>
          <a:p>
            <a:pPr algn="l"/>
            <a:r>
              <a:rPr sz="1100" b="0">
                <a:solidFill>
                  <a:srgbClr val="212121"/>
                </a:solidFill>
              </a:rPr>
              <a:t>Sem dNBR: nenhum atributo domina → modelo aprende de verdade</a:t>
            </a:r>
          </a:p>
        </p:txBody>
      </p:sp>
      <p:pic>
        <p:nvPicPr>
          <p:cNvPr id="108" name="Picture 107" descr="fig_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527" y="1887479"/>
            <a:ext cx="602894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64025"/>
            <a:ext cx="9006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